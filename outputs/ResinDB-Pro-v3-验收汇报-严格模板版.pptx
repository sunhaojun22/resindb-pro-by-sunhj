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7487dc680435e" /><Relationship Type="http://schemas.openxmlformats.org/officeDocument/2006/relationships/extended-properties" Target="/docProps/app.xml" Id="Ra3f89e6ad9334c51" /><Relationship Type="http://schemas.openxmlformats.org/officeDocument/2006/relationships/officeDocument" Target="/ppt/presentation.xml" Id="R7cb6f496e51c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0aca04b65e499b"/>
    <p:sldMasterId xmlns:r="http://schemas.openxmlformats.org/officeDocument/2006/relationships" id="2147483650" r:id="Rf0cb2c943e104496"/>
  </p:sldMasterIdLst>
  <p:notesMasterIdLst>
    <p:notesMasterId xmlns:r="http://schemas.openxmlformats.org/officeDocument/2006/relationships" r:id="R193ce6faca3d48c2"/>
  </p:notesMasterIdLst>
  <p:sldIdLst>
    <p:sldId xmlns:r="http://schemas.openxmlformats.org/officeDocument/2006/relationships" id="256" r:id="Rca17466860a74a75"/>
    <p:sldId xmlns:r="http://schemas.openxmlformats.org/officeDocument/2006/relationships" id="257" r:id="Rdb1791a56f1c4308"/>
    <p:sldId xmlns:r="http://schemas.openxmlformats.org/officeDocument/2006/relationships" id="258" r:id="Rc914d80e51ca4c92"/>
    <p:sldId xmlns:r="http://schemas.openxmlformats.org/officeDocument/2006/relationships" id="259" r:id="Ra1d79e476175472f"/>
    <p:sldId xmlns:r="http://schemas.openxmlformats.org/officeDocument/2006/relationships" id="260" r:id="Rd7cdc9cbe0cb4a45"/>
    <p:sldId xmlns:r="http://schemas.openxmlformats.org/officeDocument/2006/relationships" id="261" r:id="Re8c1dd56dc804642"/>
    <p:sldId xmlns:r="http://schemas.openxmlformats.org/officeDocument/2006/relationships" id="262" r:id="R1dc22f853e544738"/>
    <p:sldId xmlns:r="http://schemas.openxmlformats.org/officeDocument/2006/relationships" id="263" r:id="Rb99e29c72b0a49d7"/>
    <p:sldId xmlns:r="http://schemas.openxmlformats.org/officeDocument/2006/relationships" id="264" r:id="R6f2ea3c2d53441a9"/>
    <p:sldId xmlns:r="http://schemas.openxmlformats.org/officeDocument/2006/relationships" id="265" r:id="R37659b72f6a84f70"/>
    <p:sldId xmlns:r="http://schemas.openxmlformats.org/officeDocument/2006/relationships" id="266" r:id="R294f84fdf0a44ca7"/>
    <p:sldId xmlns:r="http://schemas.openxmlformats.org/officeDocument/2006/relationships" id="267" r:id="R0c05d9b7d27a4ca2"/>
    <p:sldId xmlns:r="http://schemas.openxmlformats.org/officeDocument/2006/relationships" id="268" r:id="Rd40d01426b5b4c96"/>
    <p:sldId xmlns:r="http://schemas.openxmlformats.org/officeDocument/2006/relationships" id="269" r:id="R5e963856abd842b6"/>
    <p:sldId xmlns:r="http://schemas.openxmlformats.org/officeDocument/2006/relationships" id="270" r:id="Rf351b23a45c94594"/>
    <p:sldId xmlns:r="http://schemas.openxmlformats.org/officeDocument/2006/relationships" id="271" r:id="Rc7cb3b1dfce0413e"/>
    <p:sldId xmlns:r="http://schemas.openxmlformats.org/officeDocument/2006/relationships" id="272" r:id="R27e99489e23b4a60"/>
    <p:sldId xmlns:r="http://schemas.openxmlformats.org/officeDocument/2006/relationships" id="273" r:id="Rc77053d14cc7416e"/>
    <p:sldId xmlns:r="http://schemas.openxmlformats.org/officeDocument/2006/relationships" id="274" r:id="R387e61a81d774875"/>
    <p:sldId xmlns:r="http://schemas.openxmlformats.org/officeDocument/2006/relationships" id="275" r:id="Rf8b50f80b0074e0a"/>
    <p:sldId xmlns:r="http://schemas.openxmlformats.org/officeDocument/2006/relationships" id="276" r:id="R709bfcea02e24a72"/>
    <p:sldId xmlns:r="http://schemas.openxmlformats.org/officeDocument/2006/relationships" id="277" r:id="R0d021b5b4d614c99"/>
    <p:sldId xmlns:r="http://schemas.openxmlformats.org/officeDocument/2006/relationships" id="278" r:id="R57b0b27f9cba4fbd"/>
    <p:sldId xmlns:r="http://schemas.openxmlformats.org/officeDocument/2006/relationships" id="279" r:id="R24e5e42af37441dc"/>
    <p:sldId xmlns:r="http://schemas.openxmlformats.org/officeDocument/2006/relationships" id="280" r:id="R5780e72c9d954c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34a00ca1c64612" /><Relationship Type="http://schemas.openxmlformats.org/officeDocument/2006/relationships/slideMaster" Target="/ppt/slideMasters/slideMaster1.xml" Id="R0f0aca04b65e499b" /><Relationship Type="http://schemas.openxmlformats.org/officeDocument/2006/relationships/slideMaster" Target="/ppt/slideMasters/slideMaster2.xml" Id="Rf0cb2c943e104496" /><Relationship Type="http://schemas.openxmlformats.org/officeDocument/2006/relationships/notesMaster" Target="/ppt/notesMasters/notesMaster1.xml" Id="R193ce6faca3d48c2" /><Relationship Type="http://schemas.openxmlformats.org/officeDocument/2006/relationships/presProps" Target="/ppt/presProps.xml" Id="R5a5f554734ee409b" /><Relationship Type="http://schemas.openxmlformats.org/officeDocument/2006/relationships/tableStyles" Target="/ppt/tableStyles.xml" Id="R28dea20952a84c3b" /><Relationship Type="http://schemas.openxmlformats.org/officeDocument/2006/relationships/slide" Target="/ppt/slides/slide1.xml" Id="Rca17466860a74a75" /><Relationship Type="http://schemas.openxmlformats.org/officeDocument/2006/relationships/slide" Target="/ppt/slides/slide2.xml" Id="Rdb1791a56f1c4308" /><Relationship Type="http://schemas.openxmlformats.org/officeDocument/2006/relationships/slide" Target="/ppt/slides/slide3.xml" Id="Rc914d80e51ca4c92" /><Relationship Type="http://schemas.openxmlformats.org/officeDocument/2006/relationships/slide" Target="/ppt/slides/slide4.xml" Id="Ra1d79e476175472f" /><Relationship Type="http://schemas.openxmlformats.org/officeDocument/2006/relationships/slide" Target="/ppt/slides/slide5.xml" Id="Rd7cdc9cbe0cb4a45" /><Relationship Type="http://schemas.openxmlformats.org/officeDocument/2006/relationships/slide" Target="/ppt/slides/slide6.xml" Id="Re8c1dd56dc804642" /><Relationship Type="http://schemas.openxmlformats.org/officeDocument/2006/relationships/slide" Target="/ppt/slides/slide7.xml" Id="R1dc22f853e544738" /><Relationship Type="http://schemas.openxmlformats.org/officeDocument/2006/relationships/slide" Target="/ppt/slides/slide8.xml" Id="Rb99e29c72b0a49d7" /><Relationship Type="http://schemas.openxmlformats.org/officeDocument/2006/relationships/slide" Target="/ppt/slides/slide9.xml" Id="R6f2ea3c2d53441a9" /><Relationship Type="http://schemas.openxmlformats.org/officeDocument/2006/relationships/slide" Target="/ppt/slides/slide10.xml" Id="R37659b72f6a84f70" /><Relationship Type="http://schemas.openxmlformats.org/officeDocument/2006/relationships/slide" Target="/ppt/slides/slide11.xml" Id="R294f84fdf0a44ca7" /><Relationship Type="http://schemas.openxmlformats.org/officeDocument/2006/relationships/slide" Target="/ppt/slides/slide12.xml" Id="R0c05d9b7d27a4ca2" /><Relationship Type="http://schemas.openxmlformats.org/officeDocument/2006/relationships/slide" Target="/ppt/slides/slide13.xml" Id="Rd40d01426b5b4c96" /><Relationship Type="http://schemas.openxmlformats.org/officeDocument/2006/relationships/slide" Target="/ppt/slides/slide14.xml" Id="R5e963856abd842b6" /><Relationship Type="http://schemas.openxmlformats.org/officeDocument/2006/relationships/slide" Target="/ppt/slides/slide15.xml" Id="Rf351b23a45c94594" /><Relationship Type="http://schemas.openxmlformats.org/officeDocument/2006/relationships/slide" Target="/ppt/slides/slide16.xml" Id="Rc7cb3b1dfce0413e" /><Relationship Type="http://schemas.openxmlformats.org/officeDocument/2006/relationships/slide" Target="/ppt/slides/slide17.xml" Id="R27e99489e23b4a60" /><Relationship Type="http://schemas.openxmlformats.org/officeDocument/2006/relationships/slide" Target="/ppt/slides/slide18.xml" Id="Rc77053d14cc7416e" /><Relationship Type="http://schemas.openxmlformats.org/officeDocument/2006/relationships/slide" Target="/ppt/slides/slide19.xml" Id="R387e61a81d774875" /><Relationship Type="http://schemas.openxmlformats.org/officeDocument/2006/relationships/slide" Target="/ppt/slides/slide20.xml" Id="Rf8b50f80b0074e0a" /><Relationship Type="http://schemas.openxmlformats.org/officeDocument/2006/relationships/slide" Target="/ppt/slides/slide21.xml" Id="R709bfcea02e24a72" /><Relationship Type="http://schemas.openxmlformats.org/officeDocument/2006/relationships/slide" Target="/ppt/slides/slide22.xml" Id="R0d021b5b4d614c99" /><Relationship Type="http://schemas.openxmlformats.org/officeDocument/2006/relationships/slide" Target="/ppt/slides/slide23.xml" Id="R57b0b27f9cba4fbd" /><Relationship Type="http://schemas.openxmlformats.org/officeDocument/2006/relationships/slide" Target="/ppt/slides/slide24.xml" Id="R24e5e42af37441dc" /><Relationship Type="http://schemas.openxmlformats.org/officeDocument/2006/relationships/slide" Target="/ppt/slides/slide25.xml" Id="R5780e72c9d95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860eae9a71e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dd12280de34633" /><Relationship Type="http://schemas.openxmlformats.org/officeDocument/2006/relationships/notesMaster" Target="/ppt/notesMasters/notesMaster1.xml" Id="R6784cddba78b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9e036a7f94b3b" /><Relationship Type="http://schemas.openxmlformats.org/officeDocument/2006/relationships/notesMaster" Target="/ppt/notesMasters/notesMaster1.xml" Id="Rc5e42908b3c548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a9e9004c9241cc" /><Relationship Type="http://schemas.openxmlformats.org/officeDocument/2006/relationships/notesMaster" Target="/ppt/notesMasters/notesMaster1.xml" Id="R4c89f60455e045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756d7c0ffb4f57" /><Relationship Type="http://schemas.openxmlformats.org/officeDocument/2006/relationships/notesMaster" Target="/ppt/notesMasters/notesMaster1.xml" Id="R107fe6691af34c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9c58fd548479b" /><Relationship Type="http://schemas.openxmlformats.org/officeDocument/2006/relationships/notesMaster" Target="/ppt/notesMasters/notesMaster1.xml" Id="R3a558bdd729f4e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71b5b13f3e43d5" /><Relationship Type="http://schemas.openxmlformats.org/officeDocument/2006/relationships/notesMaster" Target="/ppt/notesMasters/notesMaster1.xml" Id="R6aeb99bb322548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80566522ac4908" /><Relationship Type="http://schemas.openxmlformats.org/officeDocument/2006/relationships/notesMaster" Target="/ppt/notesMasters/notesMaster1.xml" Id="R8bb8a5cc2ea342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836b2c8d834264" /><Relationship Type="http://schemas.openxmlformats.org/officeDocument/2006/relationships/notesMaster" Target="/ppt/notesMasters/notesMaster1.xml" Id="Rcad35eb6d47841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2e3209127946d9" /><Relationship Type="http://schemas.openxmlformats.org/officeDocument/2006/relationships/notesMaster" Target="/ppt/notesMasters/notesMaster1.xml" Id="R39f5e0fd86144f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93f763581a4e86" /><Relationship Type="http://schemas.openxmlformats.org/officeDocument/2006/relationships/notesMaster" Target="/ppt/notesMasters/notesMaster1.xml" Id="R765cfd628d744c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807dc172c94d18" /><Relationship Type="http://schemas.openxmlformats.org/officeDocument/2006/relationships/notesMaster" Target="/ppt/notesMasters/notesMaster1.xml" Id="Rfd72e87eba3d43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9d0cecdf4643e1" /><Relationship Type="http://schemas.openxmlformats.org/officeDocument/2006/relationships/notesMaster" Target="/ppt/notesMasters/notesMaster1.xml" Id="R3cf3519037d84d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8dbf09b179439e" /><Relationship Type="http://schemas.openxmlformats.org/officeDocument/2006/relationships/notesMaster" Target="/ppt/notesMasters/notesMaster1.xml" Id="R44b2311d5eac4a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6663ad153c4827" /><Relationship Type="http://schemas.openxmlformats.org/officeDocument/2006/relationships/notesMaster" Target="/ppt/notesMasters/notesMaster1.xml" Id="R7b694ad265774b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9e771faa8f4b0e" /><Relationship Type="http://schemas.openxmlformats.org/officeDocument/2006/relationships/notesMaster" Target="/ppt/notesMasters/notesMaster1.xml" Id="R1f807ecabc1047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dae104eb244bdc" /><Relationship Type="http://schemas.openxmlformats.org/officeDocument/2006/relationships/notesMaster" Target="/ppt/notesMasters/notesMaster1.xml" Id="R6b086ed9ade147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5d2341bcac43fc" /><Relationship Type="http://schemas.openxmlformats.org/officeDocument/2006/relationships/notesMaster" Target="/ppt/notesMasters/notesMaster1.xml" Id="R3fa8637ec88848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777f91ef7e40d9" /><Relationship Type="http://schemas.openxmlformats.org/officeDocument/2006/relationships/notesMaster" Target="/ppt/notesMasters/notesMaster1.xml" Id="R48c0ccd26a2c41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86f27487114ef8" /><Relationship Type="http://schemas.openxmlformats.org/officeDocument/2006/relationships/notesMaster" Target="/ppt/notesMasters/notesMaster1.xml" Id="Rfc324ee62d4745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b722621c4a404e" /><Relationship Type="http://schemas.openxmlformats.org/officeDocument/2006/relationships/notesMaster" Target="/ppt/notesMasters/notesMaster1.xml" Id="R250c999e54514b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82265d53584fa3" /><Relationship Type="http://schemas.openxmlformats.org/officeDocument/2006/relationships/notesMaster" Target="/ppt/notesMasters/notesMaster1.xml" Id="R33889670d2c849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38b8441e704d05" /><Relationship Type="http://schemas.openxmlformats.org/officeDocument/2006/relationships/notesMaster" Target="/ppt/notesMasters/notesMaster1.xml" Id="R55c49719803e4ae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0540ea3fc140ac" /><Relationship Type="http://schemas.openxmlformats.org/officeDocument/2006/relationships/notesMaster" Target="/ppt/notesMasters/notesMaster1.xml" Id="Rc07bf22ea1e34a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e84ceea3dc40cd" /><Relationship Type="http://schemas.openxmlformats.org/officeDocument/2006/relationships/notesMaster" Target="/ppt/notesMasters/notesMaster1.xml" Id="Raeeb0c0ac2844c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31484f33d84e80" /><Relationship Type="http://schemas.openxmlformats.org/officeDocument/2006/relationships/notesMaster" Target="/ppt/notesMasters/notesMaster1.xml" Id="R1758e3641b8a4d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826ae32a84d59" /><Relationship Type="http://schemas.openxmlformats.org/officeDocument/2006/relationships/image" Target="/ppt/media/image.png" Id="Rcd98d2a939fd45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dbcf84d80943c9" /><Relationship Type="http://schemas.openxmlformats.org/officeDocument/2006/relationships/image" Target="/ppt/media/image.png" Id="R49ae636949e84c3e" /></Relationships>
</file>

<file path=ppt/slideLayouts/slideLayout1.xml><?xml version="1.0" encoding="utf-8"?>
<p:sldLayout xmlns:p="http://schemas.openxmlformats.org/presentationml/2006/main" type="picTx" preserve="1">
  <p:cSld name="图片与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8d2a939fd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" y="12700"/>
            <a:ext cx="736600" cy="789305"/>
          </a:xfrm>
          <a:prstGeom xmlns:a="http://schemas.openxmlformats.org/drawingml/2006/main" prst="rect">
            <a:avLst/>
          </a:prstGeom>
        </p:spPr>
      </p:pic>
      <p:sp>
        <p:nvSpPr>
          <p:cNvPr id="1028" name="Line 8">
            <a:extLst xmlns:a="http://schemas.openxmlformats.org/drawingml/2006/main">
              <a:ext uri="{FF2B5EF4-FFF2-40B4-BE49-F238E27FC236}">
                <a16:creationId xmlns:a16="http://schemas.microsoft.com/office/drawing/2014/main" id="{904449B1-DC09-46CA-A054-12F73B29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9" name="Line 9">
            <a:extLst xmlns:a="http://schemas.openxmlformats.org/drawingml/2006/main">
              <a:ext uri="{FF2B5EF4-FFF2-40B4-BE49-F238E27FC236}">
                <a16:creationId xmlns:a16="http://schemas.microsoft.com/office/drawing/2014/main" id="{E4D1D1C1-5878-4886-8411-6A7FBB4D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7565"/>
            <a:ext cx="690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00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390AD2F-E0CC-B29C-F5C3-40BCA4F5FF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C46FE7-A42E-43A5-9E16-1FBA5CB267B2}" type="datetime1">
              <a:t>2026/6/15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7642F4C-B5BC-C978-D550-431E28C06F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111BDCD-D04C-472F-B1A4-EF2BA31E06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08368" y="6453336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picTx" preserve="1">
  <p:cSld name="图片与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e636949e84c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" y="12700"/>
            <a:ext cx="736600" cy="789305"/>
          </a:xfrm>
          <a:prstGeom xmlns:a="http://schemas.openxmlformats.org/drawingml/2006/main" prst="rect">
            <a:avLst/>
          </a:prstGeom>
        </p:spPr>
      </p:pic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DB5ECA41-6289-4022-AC4E-C6DDE780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0160" y="765175"/>
            <a:ext cx="12202160" cy="762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06330e6113f04196" /><Relationship Type="http://schemas.openxmlformats.org/officeDocument/2006/relationships/theme" Target="/ppt/slideMasters/theme/theme2.xml" Id="R32d6f04cb6ce41e3" /><Relationship Type="http://schemas.openxmlformats.org/officeDocument/2006/relationships/slideLayout" Target="/ppt/slideLayouts/slideLayout1.xml" Id="R67e9f73be66a4d0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2218e7e92afa4276" /><Relationship Type="http://schemas.openxmlformats.org/officeDocument/2006/relationships/theme" Target="/ppt/slideMasters/theme/theme3.xml" Id="R79141041550b4d29" /><Relationship Type="http://schemas.openxmlformats.org/officeDocument/2006/relationships/slideLayout" Target="/ppt/slideLayouts/slideLayout2.xml" Id="R17fe048240ce448a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06330e6113f04196">
            <a:alphaModFix amt="26000"/>
          </a:blip>
          <a:stretch>
            <a:fillRect l="0" t="69000" r="0" b="-1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ACFA8D4-7CBD-4F81-9EC2-136222967D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F9EDE8A-6B15-4CE6-88ED-C9D4123802B4}" type="datetime1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C6DD68-3AB9-447A-942F-7EBF12E4B0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6EECC4A-050E-4CBF-94C5-84949EC817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D9BB5D0-35E4-459D-AEF3-FE4D7C45CC1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9f73be66a4d07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2218e7e92afa4276">
            <a:alphaModFix amt="26000"/>
          </a:blip>
          <a:stretch>
            <a:fillRect l="0" t="69000" r="0" b="-1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18E5C4D-FBFF-4DC9-A8C7-A23C524B0B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D1D26F6-B1D8-4C18-B6FB-4470510F00A3}" type="datetime1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844233-C16F-4AAB-9629-0AB89E3734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92CAC4F-956D-483A-A91D-E78F944FB0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D9BB5D0-35E4-459D-AEF3-FE4D7C45CC1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7fe048240ce448a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68835a5a7458c" /><Relationship Type="http://schemas.openxmlformats.org/officeDocument/2006/relationships/image" Target="/ppt/media/image2.png" Id="R19f55ff338664c89" /><Relationship Type="http://schemas.openxmlformats.org/officeDocument/2006/relationships/image" Target="/ppt/media/image2.jpeg" Id="R7947c2005d364e1c" /><Relationship Type="http://schemas.openxmlformats.org/officeDocument/2006/relationships/image" Target="/ppt/media/image3.jpeg" Id="Rc12d282a05724245" /><Relationship Type="http://schemas.openxmlformats.org/officeDocument/2006/relationships/image" Target="/ppt/media/image4.jpeg" Id="R405ca96b88fa4ba5" /><Relationship Type="http://schemas.openxmlformats.org/officeDocument/2006/relationships/notesSlide" Target="/ppt/notesSlides/notesSlide1.xml" Id="R388e542fd8e5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49c2542ba4681" /><Relationship Type="http://schemas.openxmlformats.org/officeDocument/2006/relationships/notesSlide" Target="/ppt/notesSlides/notesSlide2.xml" Id="Reb439619683244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48985b3264ad1" /><Relationship Type="http://schemas.openxmlformats.org/officeDocument/2006/relationships/notesSlide" Target="/ppt/notesSlides/notesSlide3.xml" Id="Rc27c0e0c04ad4c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b13c5ecd64067" /><Relationship Type="http://schemas.openxmlformats.org/officeDocument/2006/relationships/notesSlide" Target="/ppt/notesSlides/notesSlide4.xml" Id="R458f0ddf0bc343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11cd1c04941c0" /><Relationship Type="http://schemas.openxmlformats.org/officeDocument/2006/relationships/notesSlide" Target="/ppt/notesSlides/notesSlide5.xml" Id="Rc9b0a86d881f46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ee4dc0e7e4c02" /><Relationship Type="http://schemas.openxmlformats.org/officeDocument/2006/relationships/notesSlide" Target="/ppt/notesSlides/notesSlide6.xml" Id="R25c12350fc6443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d63c2978d4bcb" /><Relationship Type="http://schemas.openxmlformats.org/officeDocument/2006/relationships/notesSlide" Target="/ppt/notesSlides/notesSlide7.xml" Id="R80ce66664d444f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0dbaba294827" /><Relationship Type="http://schemas.openxmlformats.org/officeDocument/2006/relationships/notesSlide" Target="/ppt/notesSlides/notesSlide8.xml" Id="Refbfd01e1e6b4c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b917a1b1649ad" /><Relationship Type="http://schemas.openxmlformats.org/officeDocument/2006/relationships/notesSlide" Target="/ppt/notesSlides/notesSlide9.xml" Id="R54dd8ad7a91e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7e415d79c4f4c" /><Relationship Type="http://schemas.openxmlformats.org/officeDocument/2006/relationships/notesSlide" Target="/ppt/notesSlides/notesSlide10.xml" Id="Rb9acdfb4e8e149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b517c537a412e" /><Relationship Type="http://schemas.openxmlformats.org/officeDocument/2006/relationships/notesSlide" Target="/ppt/notesSlides/notesSlide11.xml" Id="Rfbceba1f3ab644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284da93694b8f" /><Relationship Type="http://schemas.openxmlformats.org/officeDocument/2006/relationships/notesSlide" Target="/ppt/notesSlides/notesSlide12.xml" Id="R2997a5b5275743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e1c6d7828480a" /><Relationship Type="http://schemas.openxmlformats.org/officeDocument/2006/relationships/image" Target="/ppt/media/image3.png" Id="R1eaa75c484cf4f4e" /><Relationship Type="http://schemas.openxmlformats.org/officeDocument/2006/relationships/notesSlide" Target="/ppt/notesSlides/notesSlide13.xml" Id="R3e6b19ebeea04b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654ca41b74a0e" /><Relationship Type="http://schemas.openxmlformats.org/officeDocument/2006/relationships/notesSlide" Target="/ppt/notesSlides/notesSlide14.xml" Id="R81d1bf5b79b049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a56d51a64c8b" /><Relationship Type="http://schemas.openxmlformats.org/officeDocument/2006/relationships/notesSlide" Target="/ppt/notesSlides/notesSlide15.xml" Id="R633db021f81045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942ef73174c6f" /><Relationship Type="http://schemas.openxmlformats.org/officeDocument/2006/relationships/notesSlide" Target="/ppt/notesSlides/notesSlide16.xml" Id="R99189f77ef8e48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6e6b08e1540d0" /><Relationship Type="http://schemas.openxmlformats.org/officeDocument/2006/relationships/image" Target="/ppt/media/image4.png" Id="R74d054eae18b45d6" /><Relationship Type="http://schemas.openxmlformats.org/officeDocument/2006/relationships/notesSlide" Target="/ppt/notesSlides/notesSlide17.xml" Id="R6e576eb036bd47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a23fe0ee14bd3" /><Relationship Type="http://schemas.openxmlformats.org/officeDocument/2006/relationships/notesSlide" Target="/ppt/notesSlides/notesSlide18.xml" Id="Rcc119f48e64944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c1b9a113448e7" /><Relationship Type="http://schemas.openxmlformats.org/officeDocument/2006/relationships/notesSlide" Target="/ppt/notesSlides/notesSlide19.xml" Id="R6e10bc5a9d5148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fbff8c7de4f84" /><Relationship Type="http://schemas.openxmlformats.org/officeDocument/2006/relationships/notesSlide" Target="/ppt/notesSlides/notesSlide20.xml" Id="R6465760e04b64a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7173d877d40d4" /><Relationship Type="http://schemas.openxmlformats.org/officeDocument/2006/relationships/notesSlide" Target="/ppt/notesSlides/notesSlide21.xml" Id="Reb5fc976daab47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772da5b69464e" /><Relationship Type="http://schemas.openxmlformats.org/officeDocument/2006/relationships/notesSlide" Target="/ppt/notesSlides/notesSlide22.xml" Id="Rb508044c889943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dca1cf0d54f5c" /><Relationship Type="http://schemas.openxmlformats.org/officeDocument/2006/relationships/notesSlide" Target="/ppt/notesSlides/notesSlide23.xml" Id="R00dd30d02dc642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d39f758ae4819" /><Relationship Type="http://schemas.openxmlformats.org/officeDocument/2006/relationships/notesSlide" Target="/ppt/notesSlides/notesSlide24.xml" Id="R32b1d73fa9974e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51639aa22412d" /><Relationship Type="http://schemas.openxmlformats.org/officeDocument/2006/relationships/notesSlide" Target="/ppt/notesSlides/notesSlide25.xml" Id="R1da25de0070140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65A1A3B-6416-AC7A-6C1D-F476545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1124744"/>
            <a:ext cx="11377264" cy="24646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 w="3810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</a:defRPr>
            </a:pPr>
            <a:r>
              <a:t>项目名称：ResinDB Pro v3.0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</a:defRPr>
            </a:pPr>
            <a:r>
              <a:t>课（专）题名称：合成树脂产品数据与科研智能分析系统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</a:defRPr>
            </a:pPr>
            <a:r>
              <a:t>起止年限：2026年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</a:defRPr>
            </a:pPr>
            <a:r>
              <a:t>主管部门：项目验收组</a:t>
            </a:r>
          </a:p>
        </p:txBody>
      </p:sp>
      <p:sp>
        <p:nvSpPr>
          <p:cNvPr id="8" name="Text Box 21">
            <a:extLst xmlns:a="http://schemas.openxmlformats.org/drawingml/2006/main">
              <a:ext uri="{FF2B5EF4-FFF2-40B4-BE49-F238E27FC236}">
                <a16:creationId xmlns:a16="http://schemas.microsoft.com/office/drawing/2014/main" id="{D83E44F5-A761-0FC3-CE5E-EB59DE2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20" y="3836974"/>
            <a:ext cx="4104456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</a:defRPr>
            </a:pPr>
            <a:r>
              <a:t>承担单位：ResinDB Pro by SunHJ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</a:defRPr>
            </a:pPr>
            <a:r>
              <a:t>汇报人：SunHJ / 项目组</a:t>
            </a:r>
          </a:p>
        </p:txBody>
      </p:sp>
      <p:sp>
        <p:nvSpPr>
          <p:cNvPr id="9" name="Text Box 21">
            <a:extLst xmlns:a="http://schemas.openxmlformats.org/drawingml/2006/main">
              <a:ext uri="{FF2B5EF4-FFF2-40B4-BE49-F238E27FC236}">
                <a16:creationId xmlns:a16="http://schemas.microsoft.com/office/drawing/2014/main" id="{7CD06D69-8ED1-5F4E-A0F6-8F0AD7AC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152" y="5589240"/>
            <a:ext cx="3742233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t>2026 年 06 月 17 日</a:t>
            </a:r>
          </a:p>
        </p:txBody>
      </p:sp>
      <p:sp>
        <p:nvSpPr>
          <p:cNvPr id="1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71FD175-7F7F-DF3A-4EDA-55F110D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232" y="246238"/>
            <a:ext cx="4147939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科技项目结题验收汇报材料</a:t>
            </a:r>
          </a:p>
        </p:txBody>
      </p:sp>
      <p:pic>
        <p:nvPicPr>
          <p:cNvPr id="1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55ff338664c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68" y="3789040"/>
            <a:ext cx="1485061" cy="1401684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  <a:effectLst xmlns:a="http://schemas.openxmlformats.org/drawingml/2006/main">
            <a:outerShdw dist="53882" dir="2699999" algn="ctr" rotWithShape="0">
              <a:srgbClr val="DDDDDD"/>
            </a:outerShdw>
          </a:effectLst>
        </p:spPr>
      </p:pic>
      <p:pic>
        <p:nvPicPr>
          <p:cNvPr id="20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7c2005d36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81" y="3788026"/>
            <a:ext cx="1487034" cy="1427941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  <a:effectLst xmlns:a="http://schemas.openxmlformats.org/drawingml/2006/main">
            <a:outerShdw dist="53882" dir="2699999" algn="ctr" rotWithShape="0">
              <a:srgbClr val="DDDDDD"/>
            </a:outerShdw>
          </a:effectLst>
        </p:spPr>
      </p:pic>
      <p:pic>
        <p:nvPicPr>
          <p:cNvPr id="2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d282a05724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38972" y="3788026"/>
            <a:ext cx="1485061" cy="1427941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  <a:effectLst xmlns:a="http://schemas.openxmlformats.org/drawingml/2006/main">
            <a:outerShdw dist="53882" dir="2699999" algn="ctr" rotWithShape="0">
              <a:srgbClr val="EAEAEA"/>
            </a:outerShdw>
          </a:effectLst>
        </p:spPr>
      </p:pic>
      <p:pic>
        <p:nvPicPr>
          <p:cNvPr id="2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a96b88fa4b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5722" y="3789040"/>
            <a:ext cx="1487990" cy="1400246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  <a:effectLst xmlns:a="http://schemas.openxmlformats.org/drawingml/2006/main">
            <a:outerShdw blurRad="50800" dist="53340" dir="2700000" algn="ctr" rotWithShape="0">
              <a:srgbClr val="DDDDDD"/>
            </a:outerShdw>
          </a:effectLst>
        </p:spPr>
      </p:pic>
    </p:spTree>
    <p:extLst>
      <p:ext uri="{BB962C8B-B14F-4D97-AF65-F5344CB8AC3E}">
        <p14:creationId xmlns:p14="http://schemas.microsoft.com/office/powerpoint/2010/main" val="7399041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E0CEC36-98E2-CDE2-0A80-83049116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-27384"/>
            <a:ext cx="5473700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目  录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FD32CB58-4BCB-33EC-89B7-0672F7CD1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73686F4-8B5C-87C1-7830-6BF3271A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536" y="1412776"/>
            <a:ext cx="5328592" cy="4540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一、计划任务完成情况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二、主要研究工作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三、技术研究报告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四、成果应用及前景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五、对外合作及知识产权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六、经费使用及决算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七、总结与建议</a:t>
            </a:r>
          </a:p>
        </p:txBody>
      </p:sp>
    </p:spTree>
    <p:extLst>
      <p:ext uri="{BB962C8B-B14F-4D97-AF65-F5344CB8AC3E}">
        <p14:creationId xmlns:p14="http://schemas.microsoft.com/office/powerpoint/2010/main" val="463148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1">
            <a:extLst xmlns:a="http://schemas.openxmlformats.org/drawingml/2006/main">
              <a:ext uri="{FF2B5EF4-FFF2-40B4-BE49-F238E27FC236}">
                <a16:creationId xmlns:a16="http://schemas.microsoft.com/office/drawing/2014/main" id="{13DD02AB-862A-4421-92D7-DF4C5394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一、计划任务完成情况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A0816AF-A916-3870-EFD1-BB9780442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AF1F8DB-A506-8458-1983-F383545C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64801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1.1 项目背景</a:t>
            </a:r>
          </a:p>
        </p:txBody>
      </p:sp>
      <p:sp>
        <p:nvSpPr>
          <p:cNvPr id="7" name="Text Box 3">
            <a:extLst xmlns:a="http://schemas.openxmlformats.org/drawingml/2006/main">
              <a:ext uri="{FF2B5EF4-FFF2-40B4-BE49-F238E27FC236}">
                <a16:creationId xmlns:a16="http://schemas.microsoft.com/office/drawing/2014/main" id="{823AFF48-ACDF-7F48-6258-310736E6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  <a:effectLst xmlns:a="http://schemas.openxmlformats.org/drawingml/2006/main">
            <a:outerShdw blurRad="50800" dist="38100" dir="2700000" algn="ctr" rotWithShape="0">
              <a:schemeClr val="bg1">
                <a:lumMod val="85000"/>
              </a:scheme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合成树脂科研数据通常分散在 Excel、仪器报告、实验批次记录与本地脚本中，难以支撑快速检索、对标和复用。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ResinDB Pro 面向 PE、PP、PVC、ABS 等树脂牌号，统一管理出厂指标、实验室数据、流变/GPC/力学等关键参数。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项目重点解决三类问题：高密度数据表格不卡顿、科研计算不阻塞主线程、存储层可在本地 IndexedDB、远端 API 与 Firebase 间迁移。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本次汇报依据本地全量源码、README、测试/构建结果和运行截图梳理。</a:t>
            </a:r>
          </a:p>
        </p:txBody>
      </p:sp>
    </p:spTree>
    <p:extLst>
      <p:ext uri="{BB962C8B-B14F-4D97-AF65-F5344CB8AC3E}">
        <p14:creationId xmlns:p14="http://schemas.microsoft.com/office/powerpoint/2010/main" val="17609435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5C19C8C9-9579-CAC0-EDE9-16A6A046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一、计划任务完成情况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8ED12EEE-57EE-F319-F4DE-C682C4F9E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</a:t>
            </a:r>
          </a:p>
        </p:txBody>
      </p:sp>
      <p:sp>
        <p:nvSpPr>
          <p:cNvPr id="4" name="TextBox 5">
            <a:extLst xmlns:a="http://schemas.openxmlformats.org/drawingml/2006/main">
              <a:ext uri="{FF2B5EF4-FFF2-40B4-BE49-F238E27FC236}">
                <a16:creationId xmlns:a16="http://schemas.microsoft.com/office/drawing/2014/main" id="{BB2BD658-0927-43C0-F27F-84BA6BA1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5" y="966246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1.2 总体研究目标</a:t>
            </a:r>
          </a:p>
        </p:txBody>
      </p:sp>
      <p:sp>
        <p:nvSpPr>
          <p:cNvPr id="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2A276F7-65C2-5AFC-3D08-964877C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0490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项目名称：ResinDB Pro v3.0 工业级合成树脂数据与科研分析系统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合同编号：本地仓库未提供，验收材料待补录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起止时间：2026年项目验收版本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承担单位：ResinDB Pro by SunHJ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外协单位：仓库未体现正式外协合同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攻关目标：构建可运行、可验证、可迁移的树脂数据管理前端，实现高性能 DataGrid、科研可视化、多线程计算、适配器式数据服务与权限规则。</a:t>
            </a:r>
          </a:p>
        </p:txBody>
      </p:sp>
    </p:spTree>
    <p:extLst>
      <p:ext uri="{BB962C8B-B14F-4D97-AF65-F5344CB8AC3E}">
        <p14:creationId xmlns:p14="http://schemas.microsoft.com/office/powerpoint/2010/main" val="13979116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3273B6BD-4552-8ACB-E2CE-6616AD4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一、计划任务完成情况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2FB4C484-1974-7447-BF1C-728FFB0ABC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5</a:t>
            </a:r>
          </a:p>
        </p:txBody>
      </p:sp>
      <p:sp>
        <p:nvSpPr>
          <p:cNvPr id="10" name="TextBox 5">
            <a:extLst xmlns:a="http://schemas.openxmlformats.org/drawingml/2006/main">
              <a:ext uri="{FF2B5EF4-FFF2-40B4-BE49-F238E27FC236}">
                <a16:creationId xmlns:a16="http://schemas.microsoft.com/office/drawing/2014/main" id="{128AAE51-0616-8C39-E796-9039635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5" y="980728"/>
            <a:ext cx="9012832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1.3.计划任务调整情况</a:t>
            </a:r>
          </a:p>
        </p:txBody>
      </p:sp>
      <p:sp>
        <p:nvSpPr>
          <p:cNvPr id="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275044C-4CB0-8C84-EE77-B0F11B0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0668000" cy="2453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计划任务未见正式变更审批文件；从 README 与源码演进看，项目范围由“树脂数据管理界面”扩展为“数据仓库 + 科研分析 + Worker 计算 + Adapter 数据服务”的完整前端原型。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调整口径：不改变验收对象，仍围绕合成树脂科研数据管理；新增内容作为增强项纳入验收说明。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需后续补齐：合同编号、正式计划任务书、经费批复、外协与知识产权佐证材料。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4BA22E7-85DD-40FD-E81B-0863DBA7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4191000" cy="4000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依据：README / 源码 / 测试构建记录</a:t>
            </a:r>
          </a:p>
        </p:txBody>
      </p:sp>
    </p:spTree>
    <p:extLst>
      <p:ext uri="{BB962C8B-B14F-4D97-AF65-F5344CB8AC3E}">
        <p14:creationId xmlns:p14="http://schemas.microsoft.com/office/powerpoint/2010/main" val="42853930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8" name="表格 6"/>
          <p:cNvGraphicFramePr/>
          <p:nvPr/>
        </p:nvGraphicFramePr>
        <p:xfrm>
          <a:off xmlns:a="http://schemas.openxmlformats.org/drawingml/2006/main" x="551384" y="1844824"/>
          <a:ext xmlns:a="http://schemas.openxmlformats.org/drawingml/2006/main" cx="11089233" cy="36724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918"/>
                <a:gridCol w="4503658"/>
                <a:gridCol w="4176464"/>
                <a:gridCol w="1728193"/>
              </a:tblGrid>
              <a:tr h="6063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研究内容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完成情况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佐证材料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树脂牌号数据库与字段模型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已完成：Product/MaterialRecord 等强类型模型，数据与 UI 解耦。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src/types、src/data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高性能数据管理界面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已完成：虚拟滚动、列宽调整、固定列、排序筛选、右键菜单。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DataGrid / hooks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科研分析与可视化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已完成：ECharts、D3、雷达、Ashby、GPC、关系谱图等视图。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components/charts/views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多线程科学计算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已完成：24 个 TS Worker 覆盖流变、寿命、统计、优化等计算。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src/workers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可迁移数据服务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已完成：IProductAdapter，IndexedDB 与 Remote API 回退，Firebase 规则。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src/lib/adapters、rules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质量验证与交付材料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已完成：typecheck/test/build 通过，README 与技术说明齐备。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npm 脚本验证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CEB20993-1938-2522-E1E8-201E6B4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一、计划任务完成情况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CF34B86-2E11-2EE9-D8C7-9F75D5B349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FD96D11-5F40-4036-C434-2649DB3A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980728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1.4 研究内容完成情况</a:t>
            </a:r>
          </a:p>
        </p:txBody>
      </p:sp>
      <p:sp>
        <p:nvSpPr>
          <p:cNvPr id="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AA9E83D-C9F7-D4A0-A316-EF9810C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94" y="5830325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结论：计划研究内容在本地可运行版本中已形成完整闭环；非源码类佐证材料需在正式验收归档时补录。</a:t>
            </a:r>
          </a:p>
        </p:txBody>
      </p:sp>
    </p:spTree>
    <p:extLst>
      <p:ext uri="{BB962C8B-B14F-4D97-AF65-F5344CB8AC3E}">
        <p14:creationId xmlns:p14="http://schemas.microsoft.com/office/powerpoint/2010/main" val="41353882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AD5ABFF-14B7-CFA4-2FEF-A2234A8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一、计划任务完成情况</a:t>
            </a:r>
          </a:p>
        </p:txBody>
      </p:sp>
      <p:graphicFrame>
        <p:nvGraphicFramePr>
          <p:cNvPr id="10" name="表格 5"/>
          <p:cNvGraphicFramePr/>
          <p:nvPr/>
        </p:nvGraphicFramePr>
        <p:xfrm>
          <a:off xmlns:a="http://schemas.openxmlformats.org/drawingml/2006/main" x="695400" y="1916833"/>
          <a:ext xmlns:a="http://schemas.openxmlformats.org/drawingml/2006/main" cx="10585177" cy="214329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153"/>
                <a:gridCol w="3155455"/>
                <a:gridCol w="3024336"/>
                <a:gridCol w="2088233"/>
              </a:tblGrid>
              <a:tr h="648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考核指标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完成情况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系统可运行与可构建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达成：typecheck 通过，Vitest 19项通过，Vite 生产构建通过。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2026-06-17本地验证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高性能数据交互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达成：React 19 + TanStack Virtual，搜索防抖、延迟值、缓存索引。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DataGrid/useDatabase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架构可迁移与安全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达成：Adapter 接口、IndexedDB/Remote/Firebase 规则；未绑定单一后端。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adapters/firestore.rules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351AF0A-9D06-E714-3F0F-B0AEB0C933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7</a:t>
            </a:r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87C44782-834C-ED2F-ADE2-EC9AC74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66246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1.5 技术经济考核指标完成情况</a:t>
            </a:r>
          </a:p>
        </p:txBody>
      </p:sp>
      <p:sp>
        <p:nvSpPr>
          <p:cNvPr id="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81CB6C6-D5BD-D795-893A-E1CCE135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25" y="4381222"/>
            <a:ext cx="11455187" cy="8002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/>
              <a:t>知识产权指标及完成情况：仓库未提供专利、软著或申请号；建议后续补充软件著作权登记与技术文档归档。</a:t>
            </a:r>
          </a:p>
        </p:txBody>
      </p:sp>
      <p:sp>
        <p:nvSpPr>
          <p:cNvPr id="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104952C-FAFF-FDD9-C232-474EAB18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94" y="5877272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/>
              <a:t>结论：源码、测试和运行截图可支撑软件功能验收；知识产权编号、财务数据需另行补录。</a:t>
            </a:r>
          </a:p>
        </p:txBody>
      </p:sp>
    </p:spTree>
    <p:extLst>
      <p:ext uri="{BB962C8B-B14F-4D97-AF65-F5344CB8AC3E}">
        <p14:creationId xmlns:p14="http://schemas.microsoft.com/office/powerpoint/2010/main" val="11917845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D3F46FA-D7D3-31C9-9C57-D7EDC3AC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二、主要研究工作</a:t>
            </a:r>
          </a:p>
        </p:txBody>
      </p:sp>
      <p:graphicFrame>
        <p:nvGraphicFramePr>
          <p:cNvPr id="9" name="表格 4"/>
          <p:cNvGraphicFramePr/>
          <p:nvPr/>
        </p:nvGraphicFramePr>
        <p:xfrm>
          <a:off xmlns:a="http://schemas.openxmlformats.org/drawingml/2006/main" x="551384" y="1844824"/>
          <a:ext xmlns:a="http://schemas.openxmlformats.org/drawingml/2006/main" cx="11089232" cy="371991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351"/>
                <a:gridCol w="4633173"/>
                <a:gridCol w="5392708"/>
              </a:tblGrid>
              <a:tr h="589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实物工作量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完成量/状态</a:t>
                      </a:r>
                    </a:p>
                  </a:txBody>
                  <a:tcPr marL="91440" marR="91440" marT="45720" marB="45720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项目源码与配置</a:t>
                      </a:r>
                    </a:p>
                  </a:txBody>
                  <a:tcPr marL="91445" marR="91445" marT="45711" marB="4571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305 个非 node_modules 文件，含 Vite/TS/Tailwind/Firebase 配置。</a:t>
                      </a:r>
                    </a:p>
                  </a:txBody>
                  <a:tcPr marL="91445" marR="91445" marT="45711" marB="45711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TypeScript/React 源码</a:t>
                      </a:r>
                    </a:p>
                  </a:txBody>
                  <a:tcPr marL="91445" marR="91445" marT="45711" marB="4571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src 下 192 个 TS/TSX 文件，组件、hooks、服务层分层明确。</a:t>
                      </a:r>
                    </a:p>
                  </a:txBody>
                  <a:tcPr marL="91445" marR="91445" marT="45711" marB="45711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Web Worker 计算模块</a:t>
                      </a:r>
                    </a:p>
                  </a:txBody>
                  <a:tcPr marL="91445" marR="91445" marT="45711" marB="4571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24 个 TypeScript Worker，覆盖数据、历史、流变、统计、优化。</a:t>
                      </a:r>
                    </a:p>
                  </a:txBody>
                  <a:tcPr marL="91445" marR="91445" marT="45711" marB="45711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测试用例</a:t>
                      </a:r>
                    </a:p>
                  </a:txBody>
                  <a:tcPr marL="68570" marR="68570" marT="17778" marB="177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4 个测试文件，19 项 Vitest 测试通过。</a:t>
                      </a:r>
                    </a:p>
                  </a:txBody>
                  <a:tcPr marL="68570" marR="68570" marT="17778" marB="17778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生产构建产物</a:t>
                      </a:r>
                    </a:p>
                  </a:txBody>
                  <a:tcPr marL="68570" marR="68570" marT="17778" marB="177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Vite 构建 4355 模块，产出 dist；存在 chunk 继续优化提示。</a:t>
                      </a:r>
                    </a:p>
                  </a:txBody>
                  <a:tcPr marL="68570" marR="68570" marT="17778" marB="17778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交付文档与截图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README、技术说明、Firestore rules、实机运行截图已纳入汇报。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6948263-03DC-F4D3-75C8-9F542F375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8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CB1DF2-11D3-21F2-9492-A668DBEF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04683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2.1 实物工作量</a:t>
            </a:r>
          </a:p>
        </p:txBody>
      </p:sp>
    </p:spTree>
    <p:extLst>
      <p:ext uri="{BB962C8B-B14F-4D97-AF65-F5344CB8AC3E}">
        <p14:creationId xmlns:p14="http://schemas.microsoft.com/office/powerpoint/2010/main" val="20471641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FC24185C-B4C2-8DD3-35CA-928D468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二、主要研究工作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81843E-F2F2-4404-88AE-47454AD09C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9</a:t>
            </a:r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50A4E287-8FEF-1D65-3885-A45DD5E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847815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2.2 解决的关键技术问题</a:t>
            </a:r>
          </a:p>
        </p:txBody>
      </p:sp>
      <p:sp>
        <p:nvSpPr>
          <p:cNvPr id="8" name="Text Box 49">
            <a:extLst xmlns:a="http://schemas.openxmlformats.org/drawingml/2006/main">
              <a:ext uri="{FF2B5EF4-FFF2-40B4-BE49-F238E27FC236}">
                <a16:creationId xmlns:a16="http://schemas.microsoft.com/office/drawing/2014/main" id="{8F2342D3-6AE5-9304-1375-D74E2C4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0810875" cy="4396738"/>
          </a:xfrm>
          <a:prstGeom xmlns:a="http://schemas.openxmlformats.org/drawingml/2006/main" prst="rect">
            <a:avLst/>
          </a:prstGeom>
          <a:ln xmlns:a="http://schemas.openxmlformats.org/drawingml/2006/main">
            <a:prstDash val="sysDash"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8" tIns="45719" rIns="91438" bIns="45719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关键技术问题1：大数据量树脂牌号表格的交互性能。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解决：DataGrid 使用 @tanstack/react-virtual 做虚拟滚动，并配合列宽持久化、固定列、组合排序/筛选、右键上下文菜单，避免海量 DOM 渲染。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关键技术问题2：科研计算和前端响应解耦。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解决：Carreau、WLF、Prony、Weibull、Monte Carlo、Sobol 等计算下沉到 Web Worker；UI 通过 hook 调度，主线程保持可交互。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关键技术问题3：存储迁移与弱网/离线容错。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解决：IProductAdapter 抽象 CRUD/导出/快照接口，IndexedDB 与 Remote API 可替换；远端失败时回退本地。</a:t>
            </a:r>
          </a:p>
        </p:txBody>
      </p:sp>
    </p:spTree>
    <p:extLst>
      <p:ext uri="{BB962C8B-B14F-4D97-AF65-F5344CB8AC3E}">
        <p14:creationId xmlns:p14="http://schemas.microsoft.com/office/powerpoint/2010/main" val="33740704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2BE25A5-97B7-7C68-14B7-6B03A766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二、主要研究工作</a:t>
            </a:r>
          </a:p>
        </p:txBody>
      </p:sp>
      <p:sp>
        <p:nvSpPr>
          <p:cNvPr id="5" name="object 2">
            <a:extLst xmlns:a="http://schemas.openxmlformats.org/drawingml/2006/main">
              <a:ext uri="{FF2B5EF4-FFF2-40B4-BE49-F238E27FC236}">
                <a16:creationId xmlns:a16="http://schemas.microsoft.com/office/drawing/2014/main" id="{70D8457A-3385-B3FA-84FA-121D59C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057275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 将科研数据表格、实验数据、计算模型和分析图谱整合到一个前端工作台。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 DataGrid 采用虚拟滚动与列级交互，适合高信息密度数据库管理场景。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 24 个 Worker 形成科研计算矩阵，降低主线程阻塞风险。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 Adapter Pattern 使 UI 不绑定单一数据库，支持 IndexedDB、REST/Firebase 等后端替换。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5. Firestore rules 提供角色与数据校验边界，便于后续云端协作。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A294A1E-FDCF-9847-AD20-AA1A380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838325"/>
            <a:ext cx="685800" cy="36576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创新点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489334-9388-EB5E-167C-AEFE5055B6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10</a:t>
            </a:r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2EA3F50F-C835-2E5E-F581-9508124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30963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2.3 创新点</a:t>
            </a:r>
          </a:p>
        </p:txBody>
      </p:sp>
    </p:spTree>
    <p:extLst>
      <p:ext uri="{BB962C8B-B14F-4D97-AF65-F5344CB8AC3E}">
        <p14:creationId xmlns:p14="http://schemas.microsoft.com/office/powerpoint/2010/main" val="2998176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BD9DFE93-A3F1-7B2F-8FAA-603B465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二、主要研究工作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154DCAE-7953-F3CC-C90C-0E416AC804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11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2FCA7DA-546A-492A-E7E2-F35B1B1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98" y="913108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2.4 取得的主要技术成果</a:t>
            </a:r>
          </a:p>
        </p:txBody>
      </p:sp>
      <p:sp>
        <p:nvSpPr>
          <p:cNvPr id="4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F0234D0-BFE3-BAC7-99EF-177957E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858500" cy="3672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 形成 ResinDB Pro v3.0 可运行原型，覆盖树脂数据仓库、仪表盘、分析视图、对比视图、透视视图和科研模态框。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 建立从 UI 组件、hooks、services/adapters 到 workers 的分层结构，便于迁移到 Next.js、Firebase 或自建 REST 后端。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 完成本地质量验证：TypeScript 静态检查通过，Vitest 19 项测试通过，生产构建通过。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 输出可用于验收展示的真实运行截图，展示数据仓库界面与高密度表格能力。</a:t>
            </a:r>
          </a:p>
        </p:txBody>
      </p:sp>
    </p:spTree>
    <p:extLst>
      <p:ext uri="{BB962C8B-B14F-4D97-AF65-F5344CB8AC3E}">
        <p14:creationId xmlns:p14="http://schemas.microsoft.com/office/powerpoint/2010/main" val="13677104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695FE95-123F-D004-C1C5-36BBE03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三、技术研究报告</a:t>
            </a:r>
          </a:p>
        </p:txBody>
      </p:sp>
      <p:sp>
        <p:nvSpPr>
          <p:cNvPr id="43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4CFFD43-8A83-5F75-94D3-A6C46AA6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8" y="2478544"/>
            <a:ext cx="615950" cy="2438608"/>
          </a:xfrm>
          <a:prstGeom xmlns:a="http://schemas.openxmlformats.org/drawingml/2006/main" prst="roundRect">
            <a:avLst>
              <a:gd name="adj" fmla="val 16667"/>
            </a:avLst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技术路线图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9A8E4C8-2E06-6333-C448-32E26F7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8715375" cy="23812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需求梳理 → 类型模型与数据种子 → 高性能 DataGrid → 科研图表/AI/Worker → Adapter 数据服务 → 权限规则 → 测试构建 → 验收展示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核心设计：UI 只负责呈现与事件派发；hooks 管理状态和副作用；adapters 封装数据源；workers 承担重计算；测试/构建作为验收门禁。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7BA1598-BF19-E6C0-12E1-B5B25DDED2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75AAA98-A6B1-051E-D975-95613303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89806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研究思路</a:t>
            </a:r>
          </a:p>
        </p:txBody>
      </p:sp>
    </p:spTree>
    <p:extLst>
      <p:ext uri="{BB962C8B-B14F-4D97-AF65-F5344CB8AC3E}">
        <p14:creationId xmlns:p14="http://schemas.microsoft.com/office/powerpoint/2010/main" val="22021226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C52EC328-92D3-BE9B-B37E-B11FA5D8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三、技术研究报告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3FF9061-D452-7C6D-D114-8D234543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496050"/>
            <a:ext cx="3905250" cy="36576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图：ResinDB Pro 数据仓库运行截图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166D493-5DD9-B0FD-01D6-733EEE7EE4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13</a:t>
            </a:r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C6CA1571-4D22-BADE-BE39-9739FC6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36712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技术研究报告内容：数据仓库实机界面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a75c484cf4f4e"/>
          <a:stretch xmlns:a="http://schemas.openxmlformats.org/drawingml/2006/main"/>
        </p:blipFill>
        <p:spPr>
          <a:xfrm xmlns:a="http://schemas.openxmlformats.org/drawingml/2006/main">
            <a:off x="2209800" y="1571625"/>
            <a:ext cx="77724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264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7F4D05D9-20B0-6F8D-E851-A5235B8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三、技术研究报告</a:t>
            </a:r>
          </a:p>
        </p:txBody>
      </p:sp>
      <p:sp>
        <p:nvSpPr>
          <p:cNvPr id="5" name="Text Box 6">
            <a:extLst xmlns:a="http://schemas.openxmlformats.org/drawingml/2006/main">
              <a:ext uri="{FF2B5EF4-FFF2-40B4-BE49-F238E27FC236}">
                <a16:creationId xmlns:a16="http://schemas.microsoft.com/office/drawing/2014/main" id="{9F2B2FA0-E370-9B9F-A3E6-DDB50D8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82" y="1557048"/>
            <a:ext cx="315341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85EFF1E-7A4E-F4DC-5776-1061C2FA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096500" cy="338137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架构分层：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UI 展现层：DataGrid、Dashboard、Analytics、Comparison、Pivot 等组件只处理视图和事件。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状态与用例层：useDatabase、useDataGrid、useColumns、useHistory 等 hooks 管理查询、筛选、列配置、历史和副作用。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数据服务层：IProductAdapter 统一 search/create/update/batch/export/restore，IndexedDBProductAdapter 与 RemoteAPIProductAdapter 可替换。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安全边界：firestore.rules 以登录、admin/editor 角色和数据校验限制云端读写。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2648CCB-B9B7-8C0A-FC25-EE4261A4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607" y="908720"/>
            <a:ext cx="432048" cy="94183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C00000"/>
                </a:solidFill>
              </a:defRPr>
            </a:pPr>
            <a:r>
              <a:rPr sz="1125">
                <a:solidFill>
                  <a:srgbClr val="C00000"/>
                </a:solidFill>
              </a:rPr>
              <a:t>关键证据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4589F28-913D-71B9-196B-341DCE90D7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14</a:t>
            </a:r>
          </a:p>
        </p:txBody>
      </p:sp>
      <p:sp>
        <p:nvSpPr>
          <p:cNvPr id="8" name="TextBox 5">
            <a:extLst xmlns:a="http://schemas.openxmlformats.org/drawingml/2006/main">
              <a:ext uri="{FF2B5EF4-FFF2-40B4-BE49-F238E27FC236}">
                <a16:creationId xmlns:a16="http://schemas.microsoft.com/office/drawing/2014/main" id="{76BD55F2-49D4-6B57-F4BB-C4C07AF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36712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3.1 系统架构与数据适配</a:t>
            </a:r>
          </a:p>
        </p:txBody>
      </p:sp>
    </p:spTree>
    <p:extLst>
      <p:ext uri="{BB962C8B-B14F-4D97-AF65-F5344CB8AC3E}">
        <p14:creationId xmlns:p14="http://schemas.microsoft.com/office/powerpoint/2010/main" val="13838775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0EFFD67B-4D15-2190-1B52-B711E6C0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三、技术研究报告</a:t>
            </a:r>
          </a:p>
        </p:txBody>
      </p:sp>
      <p:sp>
        <p:nvSpPr>
          <p:cNvPr id="5" name="Text Box 6">
            <a:extLst xmlns:a="http://schemas.openxmlformats.org/drawingml/2006/main">
              <a:ext uri="{FF2B5EF4-FFF2-40B4-BE49-F238E27FC236}">
                <a16:creationId xmlns:a16="http://schemas.microsoft.com/office/drawing/2014/main" id="{570C5F0E-E738-E252-BBFD-B92E125B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82" y="1557048"/>
            <a:ext cx="315341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8427BA3-C95B-E6AD-2765-E784253C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096500" cy="36195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性能机制：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DataGrid：@tanstack/react-virtual 控制可见行渲染，减少 DOM 数量。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搜索：300ms debounce + useDeferredValue，降低高频输入造成的主线程压力。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索引：WeakMap 缓存产品文本索引，避免重复拼接和 GC 压力。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并发：fetchRequestId 防止旧请求覆盖新结果，Worker 承担重计算。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验证：typecheck/test/build 均通过；构建提示 vendor chunk 超过 2000 kB，建议后续继续做 manualChunks / 动态导入优化。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75C5C87-1E05-1887-3465-D8D6A32F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607" y="908720"/>
            <a:ext cx="432048" cy="859536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C00000"/>
                </a:solidFill>
              </a:defRPr>
            </a:pPr>
            <a:r>
              <a:rPr sz="1125">
                <a:solidFill>
                  <a:srgbClr val="C00000"/>
                </a:solidFill>
              </a:rPr>
              <a:t>关键数据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B24684-72FB-39F1-6F12-BCDCE07BF8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15</a:t>
            </a:r>
          </a:p>
        </p:txBody>
      </p:sp>
      <p:sp>
        <p:nvSpPr>
          <p:cNvPr id="8" name="TextBox 5">
            <a:extLst xmlns:a="http://schemas.openxmlformats.org/drawingml/2006/main">
              <a:ext uri="{FF2B5EF4-FFF2-40B4-BE49-F238E27FC236}">
                <a16:creationId xmlns:a16="http://schemas.microsoft.com/office/drawing/2014/main" id="{539BB06F-04E9-2F72-880C-1E3697E9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36712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3.2 性能与交互工程</a:t>
            </a:r>
          </a:p>
        </p:txBody>
      </p:sp>
    </p:spTree>
    <p:extLst>
      <p:ext uri="{BB962C8B-B14F-4D97-AF65-F5344CB8AC3E}">
        <p14:creationId xmlns:p14="http://schemas.microsoft.com/office/powerpoint/2010/main" val="31641649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02797AC8-2CC5-D9E3-139E-02AAC08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三、技术研究报告</a:t>
            </a:r>
          </a:p>
        </p:txBody>
      </p:sp>
      <p:sp>
        <p:nvSpPr>
          <p:cNvPr id="5" name="Text Box 6">
            <a:extLst xmlns:a="http://schemas.openxmlformats.org/drawingml/2006/main">
              <a:ext uri="{FF2B5EF4-FFF2-40B4-BE49-F238E27FC236}">
                <a16:creationId xmlns:a16="http://schemas.microsoft.com/office/drawing/2014/main" id="{64503A4B-B7EA-B4E4-11CA-1A0207B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82" y="1557048"/>
            <a:ext cx="315341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AC40FE6-CE8D-211A-D0C0-BDF48618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1052736"/>
            <a:ext cx="11605120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结论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13E3EA8-87F0-6595-0884-51FDF0628F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16</a:t>
            </a:r>
          </a:p>
        </p:txBody>
      </p:sp>
      <p:sp>
        <p:nvSpPr>
          <p:cNvPr id="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ECC769F-E0D5-1242-82B1-C432BEC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763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 项目已完成从树脂产品数据录入、查询、筛选、分析到报告导出的主要软件闭环。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 代码结构符合可迁移目标：类型、hooks、adapters、workers、视图组件分层清晰。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 本地验证通过，能支撑验收演示；构建体积提示和正式财务/IP材料属于后续完善项。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 建议验收结论：软件原型与技术路线完成，具备继续工程化部署与科研数据接入条件。</a:t>
            </a:r>
          </a:p>
        </p:txBody>
      </p:sp>
    </p:spTree>
    <p:extLst>
      <p:ext uri="{BB962C8B-B14F-4D97-AF65-F5344CB8AC3E}">
        <p14:creationId xmlns:p14="http://schemas.microsoft.com/office/powerpoint/2010/main" val="408533452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60C141BA-477B-455B-7753-64EFB1C2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四、成果应用及前景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FEFEFAC-EA73-4329-8EF5-D06D489AB3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17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D994B9-1E97-5633-9607-F5A45326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2095500" cy="36576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图：系统运行截图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B1C5A55-A87A-8B87-14E0-058D9AE8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2809875" cy="36576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应用场景：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 合成树脂牌号库统一检索与对标。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 实验批次数据录入、校验、批量编辑。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 流变、寿命、分布和统计模型快速分析。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 科研汇报、质量复核和项目验收展示。</a:t>
            </a:r>
          </a:p>
        </p:txBody>
      </p:sp>
      <p:sp>
        <p:nvSpPr>
          <p:cNvPr id="11" name="TextBox 5">
            <a:extLst xmlns:a="http://schemas.openxmlformats.org/drawingml/2006/main">
              <a:ext uri="{FF2B5EF4-FFF2-40B4-BE49-F238E27FC236}">
                <a16:creationId xmlns:a16="http://schemas.microsoft.com/office/drawing/2014/main" id="{EB2E0D48-AE2A-9BF5-7223-4BE645A6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871535"/>
            <a:ext cx="25321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4.1 成果应用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054eae18b45d6"/>
          <a:stretch xmlns:a="http://schemas.openxmlformats.org/drawingml/2006/main"/>
        </p:blipFill>
        <p:spPr>
          <a:xfrm xmlns:a="http://schemas.openxmlformats.org/drawingml/2006/main">
            <a:off x="3714750" y="1621631"/>
            <a:ext cx="7429500" cy="4643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076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D663EB6D-4CEF-C0F0-ACBD-3115661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四、成果应用及前景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AABAD0E-E084-2B96-89C9-AACBB00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334625" cy="32385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预期应用前景：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 在科研所内部形成树脂牌号、实验数据、物性指标和分析模型的一体化数字资产库。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 与 Firebase / REST API / 企业数据库对接后，可扩展为多用户协同的云端科研数据平台。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 引入仪器遥测、WASM 高性能求解和 AI 配方识别后，可进一步减少人工 Excel 导入和离线脚本切换。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 构建体积和正式权限审计是上线前的重点工程化工作。</a:t>
            </a:r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966E7B51-E0E7-0194-A303-B783A5433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18</a:t>
            </a:r>
          </a:p>
        </p:txBody>
      </p:sp>
      <p:sp>
        <p:nvSpPr>
          <p:cNvPr id="14" name="TextBox 5">
            <a:extLst xmlns:a="http://schemas.openxmlformats.org/drawingml/2006/main">
              <a:ext uri="{FF2B5EF4-FFF2-40B4-BE49-F238E27FC236}">
                <a16:creationId xmlns:a16="http://schemas.microsoft.com/office/drawing/2014/main" id="{D5797D18-0BFF-1EDB-32F5-AC6E0078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890192"/>
            <a:ext cx="3036168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4.2 预期应用前景</a:t>
            </a:r>
          </a:p>
        </p:txBody>
      </p:sp>
    </p:spTree>
    <p:extLst>
      <p:ext uri="{BB962C8B-B14F-4D97-AF65-F5344CB8AC3E}">
        <p14:creationId xmlns:p14="http://schemas.microsoft.com/office/powerpoint/2010/main" val="28969836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56D22001-2B97-67DB-DF70-EF83FD4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五、对外合作及知识产权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02B1008-89FE-A6A3-F8BD-D78DC2CE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56" y="1490941"/>
            <a:ext cx="2316088" cy="499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研究内容完成情况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546B31B-4E37-D615-B121-9D9FF5AB9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19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38D2FB9-653F-0491-3A46-C592AFD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088" y="1031282"/>
            <a:ext cx="4968552" cy="408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外协单位：仓库未提供正式外协合同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0750693-69E7-E99E-0B1B-EA940E6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5.1 对外合作</a:t>
            </a:r>
          </a:p>
        </p:txBody>
      </p:sp>
      <p:sp>
        <p:nvSpPr>
          <p:cNvPr id="6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AA9E83D-C9F7-D4A0-A316-EF9810C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63" y="5797120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说明：本仓库未体现正式外协合同；本页按“开源依赖与外部接口支撑”口径梳理，正式外协信息待补录。</a:t>
            </a:r>
          </a:p>
        </p:txBody>
      </p:sp>
      <p:graphicFrame>
        <p:nvGraphicFramePr>
          <p:cNvPr id="16" name="表格 10"/>
          <p:cNvGraphicFramePr/>
          <p:nvPr/>
        </p:nvGraphicFramePr>
        <p:xfrm>
          <a:off xmlns:a="http://schemas.openxmlformats.org/drawingml/2006/main" x="838200" y="1988839"/>
          <a:ext xmlns:a="http://schemas.openxmlformats.org/drawingml/2006/main" cx="11089233" cy="36724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918"/>
                <a:gridCol w="4503658"/>
                <a:gridCol w="4176464"/>
                <a:gridCol w="1728193"/>
              </a:tblGrid>
              <a:tr h="6063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合作/支撑内容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完成情况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项目源码公开仓库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SUNHAOJUN22/ResinDB-Pro-by-SunHJ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模板与验收材料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按用户提供 PPT 模板填报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第三方开源依赖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已集成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React、Vite、ECharts、D3、Firebase、TanStack Virtual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云端/远端接口预留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已实现接口层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RemoteAPIProductAdapter + Firestore rules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正式外协研发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未见佐证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需合同或任务书补录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验收辅助证据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已形成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测试、构建、运行截图、源码扫描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50152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B7571B7A-8605-8080-844E-1F1960C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五、对外合作及知识产权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DB90CF7-EA79-4C0C-A916-C71F43B15E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20</a:t>
            </a:r>
          </a:p>
        </p:txBody>
      </p:sp>
      <p:sp>
        <p:nvSpPr>
          <p:cNvPr id="5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30F7494-1755-3422-0AE9-656D2E11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1076325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取得结论和成果：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1. 已完成一个可运行的合成树脂数据管理与科研分析前端原型。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2. 开源依赖选型满足高密度表格、科学图表、云端接入和动效交互需求。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3. 外部系统对接采用接口适配器和 Firestore 安全规则预留，后续可接入企业真实数据源。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4. 正式外协单位、合同号、交付物编号在当前仓库未出现，应由项目管理资料补齐。</a:t>
            </a:r>
          </a:p>
        </p:txBody>
      </p:sp>
      <p:sp>
        <p:nvSpPr>
          <p:cNvPr id="8" name="TextBox 5">
            <a:extLst xmlns:a="http://schemas.openxmlformats.org/drawingml/2006/main">
              <a:ext uri="{FF2B5EF4-FFF2-40B4-BE49-F238E27FC236}">
                <a16:creationId xmlns:a16="http://schemas.microsoft.com/office/drawing/2014/main" id="{C88D75DB-E130-52FF-51A7-40E7CD7C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56" y="1636626"/>
            <a:ext cx="2316088" cy="499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取得结论和成果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A7D6D08-8C69-D691-0205-F98AA5F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088" y="1031282"/>
            <a:ext cx="4968552" cy="408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外协单位：仓库未提供正式外协合同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4897710-DE69-35B5-AD93-D8CF9A81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5.1 对外合作</a:t>
            </a:r>
          </a:p>
        </p:txBody>
      </p:sp>
    </p:spTree>
    <p:extLst>
      <p:ext uri="{BB962C8B-B14F-4D97-AF65-F5344CB8AC3E}">
        <p14:creationId xmlns:p14="http://schemas.microsoft.com/office/powerpoint/2010/main" val="117700099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8EE001E-0170-4BE3-4E71-209BAE2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五、对外合作及知识产权</a:t>
            </a:r>
          </a:p>
        </p:txBody>
      </p:sp>
      <p:graphicFrame>
        <p:nvGraphicFramePr>
          <p:cNvPr id="15" name="表格 4"/>
          <p:cNvGraphicFramePr/>
          <p:nvPr/>
        </p:nvGraphicFramePr>
        <p:xfrm>
          <a:off xmlns:a="http://schemas.openxmlformats.org/drawingml/2006/main" x="695400" y="2204865"/>
          <a:ext xmlns:a="http://schemas.openxmlformats.org/drawingml/2006/main" cx="10585177" cy="214329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153"/>
                <a:gridCol w="2580466"/>
                <a:gridCol w="2843779"/>
                <a:gridCol w="2843779"/>
              </a:tblGrid>
              <a:tr h="648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外协/支撑考核指标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完成情况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软件原型可运行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本地截图、构建、测试可佐证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接口可迁移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IProductAdapter、RemoteAPI、IndexedDB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正式外协考核资料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待补录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合同、验收单、成果清单未在仓库中体现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EC515CD6-AC9F-D008-CBC4-29D0D55B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752" y="1556792"/>
            <a:ext cx="4248472" cy="499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考核指标完成情况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879F3DA-3475-7F86-70AA-16EC7DAB4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21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DB4E438-1B0F-CE49-BB12-DA0E573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088" y="1031282"/>
            <a:ext cx="4968552" cy="408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外协单位：仓库未提供正式外协合同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E6CDB46-CE05-7871-04C8-93229FB1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5.1 对外合作</a:t>
            </a:r>
          </a:p>
        </p:txBody>
      </p:sp>
      <p:sp>
        <p:nvSpPr>
          <p:cNvPr id="1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5F27DDA-2B44-93F0-3111-4B01B725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63" y="5797120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结论：软件支撑指标已完成；正式外协指标需项目管理资料确认后补入。</a:t>
            </a:r>
          </a:p>
        </p:txBody>
      </p:sp>
    </p:spTree>
    <p:extLst>
      <p:ext uri="{BB962C8B-B14F-4D97-AF65-F5344CB8AC3E}">
        <p14:creationId xmlns:p14="http://schemas.microsoft.com/office/powerpoint/2010/main" val="38403779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E78027A8-1850-6907-3BBE-02635480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五、对外合作及知识产权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D627193-7F6D-3E6B-A64F-7DCB7751D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22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BA58132-2EE3-0D74-6132-DC12D09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5.2 知识产权</a:t>
            </a:r>
          </a:p>
        </p:txBody>
      </p:sp>
      <p:graphicFrame>
        <p:nvGraphicFramePr>
          <p:cNvPr id="19" name="表格 12"/>
          <p:cNvGraphicFramePr/>
          <p:nvPr/>
        </p:nvGraphicFramePr>
        <p:xfrm>
          <a:off xmlns:a="http://schemas.openxmlformats.org/drawingml/2006/main" x="335360" y="2996952"/>
          <a:ext xmlns:a="http://schemas.openxmlformats.org/drawingml/2006/main" cx="11599205" cy="277949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963"/>
                <a:gridCol w="1565732"/>
                <a:gridCol w="1725502"/>
                <a:gridCol w="1725502"/>
                <a:gridCol w="1725502"/>
                <a:gridCol w="1725502"/>
                <a:gridCol w="1725502"/>
              </a:tblGrid>
              <a:tr h="504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知识产权类型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申请/登记号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权利人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68580" marR="68580" marT="0" marB="0" anchor="ctr"/>
                </a:tc>
              </a:tr>
              <a:tr h="1137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软件著作权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ResinDB Pro 合成树脂科研数据管理系统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待申请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项目组/单位待定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建议登记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可依据 v3.0 源码和说明书申报</a:t>
                      </a:r>
                    </a:p>
                  </a:txBody>
                  <a:tcPr marL="91440" marR="91440" marT="45720" marB="45720" anchor="ctr"/>
                </a:tc>
              </a:tr>
              <a:tr h="1137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技术文档/专有技术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高性能树脂数据网格与科研 Worker 计算流程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内部归档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项目组/单位待定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待归档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需补充正式编号与归档责任人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4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D9238CE-A8D2-AFB2-3414-235DA349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1692677"/>
            <a:ext cx="11455187" cy="8002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知识产权指标及完成情况：当前仓库未提供专利/软著申请号，以下为建议归档口径。</a:t>
            </a:r>
          </a:p>
        </p:txBody>
      </p:sp>
    </p:spTree>
    <p:extLst>
      <p:ext uri="{BB962C8B-B14F-4D97-AF65-F5344CB8AC3E}">
        <p14:creationId xmlns:p14="http://schemas.microsoft.com/office/powerpoint/2010/main" val="30836497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ACC3DFF-5433-FAD6-4F69-6A706A7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六、经费使用及决算</a:t>
            </a:r>
          </a:p>
        </p:txBody>
      </p:sp>
      <p:graphicFrame>
        <p:nvGraphicFramePr>
          <p:cNvPr id="9" name="表格 4"/>
          <p:cNvGraphicFramePr/>
          <p:nvPr/>
        </p:nvGraphicFramePr>
        <p:xfrm>
          <a:off xmlns:a="http://schemas.openxmlformats.org/drawingml/2006/main" x="623392" y="1700808"/>
          <a:ext xmlns:a="http://schemas.openxmlformats.org/drawingml/2006/main" cx="10945217" cy="4092124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7944"/>
                <a:gridCol w="2680461"/>
                <a:gridCol w="1824203"/>
                <a:gridCol w="1824203"/>
                <a:gridCol w="1824203"/>
                <a:gridCol w="1824203"/>
              </a:tblGrid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经费科目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预算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支出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结余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68580" marR="68580" marT="0" marB="0" anchor="ctr"/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设备费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材料费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/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测试化验加工费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燃料动力费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5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差旅/会议/国际合作费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6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出版/文献/知识产权费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软著/IP待补录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7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劳务费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8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专家咨询费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9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外协费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外协合同待补录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10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其他费用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未见财务材料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11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合计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正式验收前财务补录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C8F0905-9226-BAE3-11C4-9721F822A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23</a:t>
            </a:r>
          </a:p>
        </p:txBody>
      </p:sp>
      <p:sp>
        <p:nvSpPr>
          <p:cNvPr id="6" name="object 3">
            <a:extLst xmlns:a="http://schemas.openxmlformats.org/drawingml/2006/main">
              <a:ext uri="{FF2B5EF4-FFF2-40B4-BE49-F238E27FC236}">
                <a16:creationId xmlns:a16="http://schemas.microsoft.com/office/drawing/2014/main" id="{56C65FFE-F1D7-F03C-1DA9-D35231D1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2" y="1171481"/>
            <a:ext cx="8861315" cy="1122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总经费、拨付经费、支出和结余：当前源码仓库未提供财务凭证，以下仅保留模板决算口径，金额待财务确认。</a:t>
            </a:r>
          </a:p>
        </p:txBody>
      </p:sp>
    </p:spTree>
    <p:extLst>
      <p:ext uri="{BB962C8B-B14F-4D97-AF65-F5344CB8AC3E}">
        <p14:creationId xmlns:p14="http://schemas.microsoft.com/office/powerpoint/2010/main" val="384507150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53376A37-1F0E-3976-64AC-61E4FBBD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七、总结与建议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C50A54C-C58B-CB91-30E4-684200414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24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64F19-D82F-583A-7AF3-983271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96" y="919690"/>
            <a:ext cx="4980384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总结</a:t>
            </a:r>
          </a:p>
        </p:txBody>
      </p:sp>
      <p:sp>
        <p:nvSpPr>
          <p:cNvPr id="10" name="TextBox 5">
            <a:extLst xmlns:a="http://schemas.openxmlformats.org/drawingml/2006/main">
              <a:ext uri="{FF2B5EF4-FFF2-40B4-BE49-F238E27FC236}">
                <a16:creationId xmlns:a16="http://schemas.microsoft.com/office/drawing/2014/main" id="{A5CAC822-64BC-F312-71FE-4DB639B1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96" y="4178511"/>
            <a:ext cx="1119536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建议</a:t>
            </a:r>
          </a:p>
        </p:txBody>
      </p:sp>
      <p:sp>
        <p:nvSpPr>
          <p:cNvPr id="4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F1B2FC7-5E32-AD8C-5A3A-03490210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1096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/>
              <a:t>总结：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/>
              <a:t>ResinDB Pro v3.0 已形成可运行、可验证、可迁移的树脂科研数据管理原型。核心交付包括高性能 DataGrid、科研图谱与图表、多 Worker 科学计算、Adapter 数据服务、Firebase 安全规则、测试与构建验证。</a:t>
            </a:r>
          </a:p>
        </p:txBody>
      </p:sp>
      <p:sp>
        <p:nvSpPr>
          <p:cNvPr id="6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3C0DD4B-02BC-BF84-ED51-C5955D25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096625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/>
              <a:t>建议：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575"/>
            </a:pPr>
            <a:r>
              <a:rPr sz="1575"/>
              <a:t>补齐计划任务书、合同编号、经费决算、知识产权申请号和外协资料；继续优化 vendor/ECharts 构建分包；接入真实实验室数据源并补充 E2E、性能基准和权限审计。</a:t>
            </a:r>
          </a:p>
        </p:txBody>
      </p:sp>
    </p:spTree>
    <p:extLst>
      <p:ext uri="{BB962C8B-B14F-4D97-AF65-F5344CB8AC3E}">
        <p14:creationId xmlns:p14="http://schemas.microsoft.com/office/powerpoint/2010/main" val="321653166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9F9EB55-F5F7-E47E-2D59-21D2FEF9FA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25</a:t>
            </a:r>
          </a:p>
        </p:txBody>
      </p:sp>
      <p:sp>
        <p:nvSpPr>
          <p:cNvPr id="4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A6B6E69-4E57-9631-71C1-414AD15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33625"/>
            <a:ext cx="8810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001A70"/>
                </a:solidFill>
              </a:defRPr>
            </a:pPr>
            <a:r>
              <a:t>敬请专家批评指正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001A70"/>
                </a:solidFill>
              </a:defRPr>
            </a:pPr>
            <a:r>
              <a:t>谢 谢</a:t>
            </a:r>
          </a:p>
        </p:txBody>
      </p:sp>
    </p:spTree>
    <p:extLst>
      <p:ext uri="{BB962C8B-B14F-4D97-AF65-F5344CB8AC3E}">
        <p14:creationId xmlns:p14="http://schemas.microsoft.com/office/powerpoint/2010/main" val="1234241076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2026-06-17T04:55:25.1210000Z</dcterms:created>
  <dcterms:modified xsi:type="dcterms:W3CDTF">2026-06-17T04:55:25.1210000Z</dcterms:modified>
</coreProperties>
</file>