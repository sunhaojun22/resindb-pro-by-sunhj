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c0df0957534991" /><Relationship Type="http://schemas.openxmlformats.org/officeDocument/2006/relationships/extended-properties" Target="/docProps/app.xml" Id="R94d5bf3b7df448a8" /><Relationship Type="http://schemas.openxmlformats.org/officeDocument/2006/relationships/officeDocument" Target="/ppt/presentation.xml" Id="Rc45317f207c14f8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a181a960c84d69"/>
    <p:sldMasterId xmlns:r="http://schemas.openxmlformats.org/officeDocument/2006/relationships" id="2147483650" r:id="R5faf5c6bfb2447e9"/>
  </p:sldMasterIdLst>
  <p:notesMasterIdLst>
    <p:notesMasterId xmlns:r="http://schemas.openxmlformats.org/officeDocument/2006/relationships" r:id="R96b831f99c9c499e"/>
  </p:notesMasterIdLst>
  <p:sldIdLst>
    <p:sldId xmlns:r="http://schemas.openxmlformats.org/officeDocument/2006/relationships" id="256" r:id="R6fd7d2550a8c4dd8"/>
    <p:sldId xmlns:r="http://schemas.openxmlformats.org/officeDocument/2006/relationships" id="257" r:id="R39cf5b46cd0f45f2"/>
    <p:sldId xmlns:r="http://schemas.openxmlformats.org/officeDocument/2006/relationships" id="258" r:id="R7d350b99d87349be"/>
    <p:sldId xmlns:r="http://schemas.openxmlformats.org/officeDocument/2006/relationships" id="259" r:id="Rc27f78c05c134b4a"/>
    <p:sldId xmlns:r="http://schemas.openxmlformats.org/officeDocument/2006/relationships" id="260" r:id="R4a108204699a4885"/>
    <p:sldId xmlns:r="http://schemas.openxmlformats.org/officeDocument/2006/relationships" id="261" r:id="Ra70d8d5fb5c142c8"/>
    <p:sldId xmlns:r="http://schemas.openxmlformats.org/officeDocument/2006/relationships" id="262" r:id="R94e57317604a4ff7"/>
    <p:sldId xmlns:r="http://schemas.openxmlformats.org/officeDocument/2006/relationships" id="263" r:id="R0ab1a6617f944173"/>
    <p:sldId xmlns:r="http://schemas.openxmlformats.org/officeDocument/2006/relationships" id="264" r:id="R283e3513c44644a8"/>
    <p:sldId xmlns:r="http://schemas.openxmlformats.org/officeDocument/2006/relationships" id="265" r:id="R1a76447890cc42ff"/>
    <p:sldId xmlns:r="http://schemas.openxmlformats.org/officeDocument/2006/relationships" id="266" r:id="R1d4c8b595e154969"/>
    <p:sldId xmlns:r="http://schemas.openxmlformats.org/officeDocument/2006/relationships" id="267" r:id="Rf0588add7b7b47cd"/>
    <p:sldId xmlns:r="http://schemas.openxmlformats.org/officeDocument/2006/relationships" id="268" r:id="R2cf78fba4abc4538"/>
    <p:sldId xmlns:r="http://schemas.openxmlformats.org/officeDocument/2006/relationships" id="269" r:id="Rb516c49c0eb74aaa"/>
    <p:sldId xmlns:r="http://schemas.openxmlformats.org/officeDocument/2006/relationships" id="270" r:id="Ra8b446534d9345a6"/>
    <p:sldId xmlns:r="http://schemas.openxmlformats.org/officeDocument/2006/relationships" id="271" r:id="Rab09563abe184e28"/>
    <p:sldId xmlns:r="http://schemas.openxmlformats.org/officeDocument/2006/relationships" id="272" r:id="Ref6d0816c8524a2f"/>
    <p:sldId xmlns:r="http://schemas.openxmlformats.org/officeDocument/2006/relationships" id="273" r:id="R70705fe30fa444bc"/>
    <p:sldId xmlns:r="http://schemas.openxmlformats.org/officeDocument/2006/relationships" id="274" r:id="R7235c75b8deb44b9"/>
    <p:sldId xmlns:r="http://schemas.openxmlformats.org/officeDocument/2006/relationships" id="275" r:id="Ra22b6b955e474d7e"/>
    <p:sldId xmlns:r="http://schemas.openxmlformats.org/officeDocument/2006/relationships" id="276" r:id="R69f8fbaa905b4600"/>
    <p:sldId xmlns:r="http://schemas.openxmlformats.org/officeDocument/2006/relationships" id="277" r:id="Rfbae060d39ed4e19"/>
    <p:sldId xmlns:r="http://schemas.openxmlformats.org/officeDocument/2006/relationships" id="278" r:id="Rb1589252cf89415d"/>
    <p:sldId xmlns:r="http://schemas.openxmlformats.org/officeDocument/2006/relationships" id="279" r:id="R9eafaa6b40da40d8"/>
    <p:sldId xmlns:r="http://schemas.openxmlformats.org/officeDocument/2006/relationships" id="280" r:id="R65c8e5bb38ce452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5c8e9fc18242a1" /><Relationship Type="http://schemas.openxmlformats.org/officeDocument/2006/relationships/slideMaster" Target="/ppt/slideMasters/slideMaster1.xml" Id="Rf4a181a960c84d69" /><Relationship Type="http://schemas.openxmlformats.org/officeDocument/2006/relationships/slideMaster" Target="/ppt/slideMasters/slideMaster2.xml" Id="R5faf5c6bfb2447e9" /><Relationship Type="http://schemas.openxmlformats.org/officeDocument/2006/relationships/notesMaster" Target="/ppt/notesMasters/notesMaster1.xml" Id="R96b831f99c9c499e" /><Relationship Type="http://schemas.openxmlformats.org/officeDocument/2006/relationships/presProps" Target="/ppt/presProps.xml" Id="R753c9de03db74a07" /><Relationship Type="http://schemas.openxmlformats.org/officeDocument/2006/relationships/tableStyles" Target="/ppt/tableStyles.xml" Id="R24c08b40ca9c44b1" /><Relationship Type="http://schemas.openxmlformats.org/officeDocument/2006/relationships/slide" Target="/ppt/slides/slide1.xml" Id="R6fd7d2550a8c4dd8" /><Relationship Type="http://schemas.openxmlformats.org/officeDocument/2006/relationships/slide" Target="/ppt/slides/slide2.xml" Id="R39cf5b46cd0f45f2" /><Relationship Type="http://schemas.openxmlformats.org/officeDocument/2006/relationships/slide" Target="/ppt/slides/slide3.xml" Id="R7d350b99d87349be" /><Relationship Type="http://schemas.openxmlformats.org/officeDocument/2006/relationships/slide" Target="/ppt/slides/slide4.xml" Id="Rc27f78c05c134b4a" /><Relationship Type="http://schemas.openxmlformats.org/officeDocument/2006/relationships/slide" Target="/ppt/slides/slide5.xml" Id="R4a108204699a4885" /><Relationship Type="http://schemas.openxmlformats.org/officeDocument/2006/relationships/slide" Target="/ppt/slides/slide6.xml" Id="Ra70d8d5fb5c142c8" /><Relationship Type="http://schemas.openxmlformats.org/officeDocument/2006/relationships/slide" Target="/ppt/slides/slide7.xml" Id="R94e57317604a4ff7" /><Relationship Type="http://schemas.openxmlformats.org/officeDocument/2006/relationships/slide" Target="/ppt/slides/slide8.xml" Id="R0ab1a6617f944173" /><Relationship Type="http://schemas.openxmlformats.org/officeDocument/2006/relationships/slide" Target="/ppt/slides/slide9.xml" Id="R283e3513c44644a8" /><Relationship Type="http://schemas.openxmlformats.org/officeDocument/2006/relationships/slide" Target="/ppt/slides/slide10.xml" Id="R1a76447890cc42ff" /><Relationship Type="http://schemas.openxmlformats.org/officeDocument/2006/relationships/slide" Target="/ppt/slides/slide11.xml" Id="R1d4c8b595e154969" /><Relationship Type="http://schemas.openxmlformats.org/officeDocument/2006/relationships/slide" Target="/ppt/slides/slide12.xml" Id="Rf0588add7b7b47cd" /><Relationship Type="http://schemas.openxmlformats.org/officeDocument/2006/relationships/slide" Target="/ppt/slides/slide13.xml" Id="R2cf78fba4abc4538" /><Relationship Type="http://schemas.openxmlformats.org/officeDocument/2006/relationships/slide" Target="/ppt/slides/slide14.xml" Id="Rb516c49c0eb74aaa" /><Relationship Type="http://schemas.openxmlformats.org/officeDocument/2006/relationships/slide" Target="/ppt/slides/slide15.xml" Id="Ra8b446534d9345a6" /><Relationship Type="http://schemas.openxmlformats.org/officeDocument/2006/relationships/slide" Target="/ppt/slides/slide16.xml" Id="Rab09563abe184e28" /><Relationship Type="http://schemas.openxmlformats.org/officeDocument/2006/relationships/slide" Target="/ppt/slides/slide17.xml" Id="Ref6d0816c8524a2f" /><Relationship Type="http://schemas.openxmlformats.org/officeDocument/2006/relationships/slide" Target="/ppt/slides/slide18.xml" Id="R70705fe30fa444bc" /><Relationship Type="http://schemas.openxmlformats.org/officeDocument/2006/relationships/slide" Target="/ppt/slides/slide19.xml" Id="R7235c75b8deb44b9" /><Relationship Type="http://schemas.openxmlformats.org/officeDocument/2006/relationships/slide" Target="/ppt/slides/slide20.xml" Id="Ra22b6b955e474d7e" /><Relationship Type="http://schemas.openxmlformats.org/officeDocument/2006/relationships/slide" Target="/ppt/slides/slide21.xml" Id="R69f8fbaa905b4600" /><Relationship Type="http://schemas.openxmlformats.org/officeDocument/2006/relationships/slide" Target="/ppt/slides/slide22.xml" Id="Rfbae060d39ed4e19" /><Relationship Type="http://schemas.openxmlformats.org/officeDocument/2006/relationships/slide" Target="/ppt/slides/slide23.xml" Id="Rb1589252cf89415d" /><Relationship Type="http://schemas.openxmlformats.org/officeDocument/2006/relationships/slide" Target="/ppt/slides/slide24.xml" Id="R9eafaa6b40da40d8" /><Relationship Type="http://schemas.openxmlformats.org/officeDocument/2006/relationships/slide" Target="/ppt/slides/slide25.xml" Id="R65c8e5bb38ce452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7df3fbe2fa2a40f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5cd846eb64c45d8" /><Relationship Type="http://schemas.openxmlformats.org/officeDocument/2006/relationships/notesMaster" Target="/ppt/notesMasters/notesMaster1.xml" Id="Rd75d45099e8e44e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e4ebf10274c4691" /><Relationship Type="http://schemas.openxmlformats.org/officeDocument/2006/relationships/notesMaster" Target="/ppt/notesMasters/notesMaster1.xml" Id="R96e07230f5f44a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1aa9826b699414a" /><Relationship Type="http://schemas.openxmlformats.org/officeDocument/2006/relationships/notesMaster" Target="/ppt/notesMasters/notesMaster1.xml" Id="Rab3a45f7ec31483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7f5e886d5ba48c6" /><Relationship Type="http://schemas.openxmlformats.org/officeDocument/2006/relationships/notesMaster" Target="/ppt/notesMasters/notesMaster1.xml" Id="R4bd93aedb1974f8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241a204aeb49fa" /><Relationship Type="http://schemas.openxmlformats.org/officeDocument/2006/relationships/notesMaster" Target="/ppt/notesMasters/notesMaster1.xml" Id="R1f0d1e7b8c4046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8c08eb8034347f5" /><Relationship Type="http://schemas.openxmlformats.org/officeDocument/2006/relationships/notesMaster" Target="/ppt/notesMasters/notesMaster1.xml" Id="Rd145266faa8f4a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1051e691c17462c" /><Relationship Type="http://schemas.openxmlformats.org/officeDocument/2006/relationships/notesMaster" Target="/ppt/notesMasters/notesMaster1.xml" Id="R46dde44307cb489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8e495e9bd444605" /><Relationship Type="http://schemas.openxmlformats.org/officeDocument/2006/relationships/notesMaster" Target="/ppt/notesMasters/notesMaster1.xml" Id="R758279b1e16c485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ad1c9f6ad4444ba" /><Relationship Type="http://schemas.openxmlformats.org/officeDocument/2006/relationships/notesMaster" Target="/ppt/notesMasters/notesMaster1.xml" Id="R3ac2206f36f84a8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3489bd38924013" /><Relationship Type="http://schemas.openxmlformats.org/officeDocument/2006/relationships/notesMaster" Target="/ppt/notesMasters/notesMaster1.xml" Id="Raed0fcc58e30430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d2edf43267441f3" /><Relationship Type="http://schemas.openxmlformats.org/officeDocument/2006/relationships/notesMaster" Target="/ppt/notesMasters/notesMaster1.xml" Id="R2700187d705242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2a6b84a03244996" /><Relationship Type="http://schemas.openxmlformats.org/officeDocument/2006/relationships/notesMaster" Target="/ppt/notesMasters/notesMaster1.xml" Id="R5238fc30d32945d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b0798bac144281" /><Relationship Type="http://schemas.openxmlformats.org/officeDocument/2006/relationships/notesMaster" Target="/ppt/notesMasters/notesMaster1.xml" Id="Rf5b1a89a744949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128d82d9b014da3" /><Relationship Type="http://schemas.openxmlformats.org/officeDocument/2006/relationships/notesMaster" Target="/ppt/notesMasters/notesMaster1.xml" Id="R29ca11d161a4412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e763f38e0e64808" /><Relationship Type="http://schemas.openxmlformats.org/officeDocument/2006/relationships/notesMaster" Target="/ppt/notesMasters/notesMaster1.xml" Id="Rafe96910d29145e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e9f65dca4734b4e" /><Relationship Type="http://schemas.openxmlformats.org/officeDocument/2006/relationships/notesMaster" Target="/ppt/notesMasters/notesMaster1.xml" Id="Rc0a209aa96634b1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5251c0e75294e73" /><Relationship Type="http://schemas.openxmlformats.org/officeDocument/2006/relationships/notesMaster" Target="/ppt/notesMasters/notesMaster1.xml" Id="Ra96635e97d8d406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72c4eb4b69346a1" /><Relationship Type="http://schemas.openxmlformats.org/officeDocument/2006/relationships/notesMaster" Target="/ppt/notesMasters/notesMaster1.xml" Id="R22363e98da9b4ed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495fc23ccb4452d" /><Relationship Type="http://schemas.openxmlformats.org/officeDocument/2006/relationships/notesMaster" Target="/ppt/notesMasters/notesMaster1.xml" Id="R2a8b2f1ebc904038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94b978f4ef04394" /><Relationship Type="http://schemas.openxmlformats.org/officeDocument/2006/relationships/notesMaster" Target="/ppt/notesMasters/notesMaster1.xml" Id="Rbc375531fb264d3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2c2888c9b7a34834" /><Relationship Type="http://schemas.openxmlformats.org/officeDocument/2006/relationships/notesMaster" Target="/ppt/notesMasters/notesMaster1.xml" Id="R511745c344cb438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acecf3bced44fc" /><Relationship Type="http://schemas.openxmlformats.org/officeDocument/2006/relationships/notesMaster" Target="/ppt/notesMasters/notesMaster1.xml" Id="R17406f108ae643e7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c762226ef8944329" /><Relationship Type="http://schemas.openxmlformats.org/officeDocument/2006/relationships/notesMaster" Target="/ppt/notesMasters/notesMaster1.xml" Id="R2bf891d32f744c18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b3a458b4e4d942fd" /><Relationship Type="http://schemas.openxmlformats.org/officeDocument/2006/relationships/notesMaster" Target="/ppt/notesMasters/notesMaster1.xml" Id="R15353a4bc425475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6d27ab4c7ef4940" /><Relationship Type="http://schemas.openxmlformats.org/officeDocument/2006/relationships/notesMaster" Target="/ppt/notesMasters/notesMaster1.xml" Id="R4655c79643d44cd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f1c63b83643f0" /><Relationship Type="http://schemas.openxmlformats.org/officeDocument/2006/relationships/image" Target="/ppt/media/image.png" Id="Redfaa42800974f0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14dcd5273ba4404" /><Relationship Type="http://schemas.openxmlformats.org/officeDocument/2006/relationships/image" Target="/ppt/media/image.png" Id="Refedf3a684924e37" /></Relationships>
</file>

<file path=ppt/slideLayouts/slideLayout1.xml><?xml version="1.0" encoding="utf-8"?>
<p:sldLayout xmlns:p="http://schemas.openxmlformats.org/presentationml/2006/main" type="picTx" preserve="1">
  <p:cSld name="图片与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faa42800974f0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0" y="12700"/>
            <a:ext cx="736600" cy="789305"/>
          </a:xfrm>
          <a:prstGeom xmlns:a="http://schemas.openxmlformats.org/drawingml/2006/main" prst="rect">
            <a:avLst/>
          </a:prstGeom>
        </p:spPr>
      </p:pic>
      <p:sp>
        <p:nvSpPr>
          <p:cNvPr id="1028" name="Line 8">
            <a:extLst xmlns:a="http://schemas.openxmlformats.org/drawingml/2006/main">
              <a:ext uri="{FF2B5EF4-FFF2-40B4-BE49-F238E27FC236}">
                <a16:creationId xmlns:a16="http://schemas.microsoft.com/office/drawing/2014/main" id="{E4B01310-288C-434D-AF9C-FF7BDE002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439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000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1029" name="Line 9">
            <a:extLst xmlns:a="http://schemas.openxmlformats.org/drawingml/2006/main">
              <a:ext uri="{FF2B5EF4-FFF2-40B4-BE49-F238E27FC236}">
                <a16:creationId xmlns:a16="http://schemas.microsoft.com/office/drawing/2014/main" id="{050CD3B6-997E-4E69-8D35-1FDD81996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37565"/>
            <a:ext cx="6908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0">
            <a:solidFill>
              <a:srgbClr val="000066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390AD2F-E0CC-B29C-F5C3-40BCA4F5FFB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2C46FE7-A42E-43A5-9E16-1FBA5CB267B2}" type="datetime1">
              <a:t>2026/6/15</a:t>
            </a:fld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7642F4C-B5BC-C978-D550-431E28C06FB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111BDCD-D04C-472F-B1A4-EF2BA31E06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9408368" y="6453336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‹#›</a:t>
            </a:fld>
          </a:p>
        </p:txBody>
      </p:sp>
    </p:spTree>
  </p:cSld>
</p:sldLayout>
</file>

<file path=ppt/slideLayouts/slideLayout2.xml><?xml version="1.0" encoding="utf-8"?>
<p:sldLayout xmlns:p="http://schemas.openxmlformats.org/presentationml/2006/main" type="picTx" preserve="1">
  <p:cSld name="图片与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edf3a684924e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600" y="12700"/>
            <a:ext cx="736600" cy="789305"/>
          </a:xfrm>
          <a:prstGeom xmlns:a="http://schemas.openxmlformats.org/drawingml/2006/main" prst="rect">
            <a:avLst/>
          </a:prstGeom>
        </p:spPr>
      </p:pic>
      <p:sp>
        <p:nvSpPr>
          <p:cNvPr id="2" name="直接连接符 1">
            <a:extLst xmlns:a="http://schemas.openxmlformats.org/drawingml/2006/main">
              <a:ext uri="{FF2B5EF4-FFF2-40B4-BE49-F238E27FC236}">
                <a16:creationId xmlns:a16="http://schemas.microsoft.com/office/drawing/2014/main" id="{0C69415C-3280-4EE0-8E29-3F1AF630B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-10160" y="765175"/>
            <a:ext cx="12202160" cy="762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jpeg" Id="Rfad9ca68cb4c42ee" /><Relationship Type="http://schemas.openxmlformats.org/officeDocument/2006/relationships/theme" Target="/ppt/slideMasters/theme/theme2.xml" Id="R3a800a962ef5410b" /><Relationship Type="http://schemas.openxmlformats.org/officeDocument/2006/relationships/slideLayout" Target="/ppt/slideLayouts/slideLayout1.xml" Id="R7f8f94a01dec4a25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jpeg" Id="R7a5612362c6b4231" /><Relationship Type="http://schemas.openxmlformats.org/officeDocument/2006/relationships/theme" Target="/ppt/slideMasters/theme/theme3.xml" Id="R121f6d20948a4ae7" /><Relationship Type="http://schemas.openxmlformats.org/officeDocument/2006/relationships/slideLayout" Target="/ppt/slideLayouts/slideLayout2.xml" Id="Raf8e63cb83394e10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fad9ca68cb4c42ee">
            <a:alphaModFix amt="26000"/>
          </a:blip>
          <a:stretch>
            <a:fillRect l="0" t="69000" r="0" b="-1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E0FD83-87BB-4B8D-BB88-F7AF47B9593F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F9EDE8A-6B15-4CE6-88ED-C9D4123802B4}" type="datetime1">
              <a:t>2026/6/15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D14C5CB-9902-41EC-9EA4-53963D18967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44E5F754-8BB6-4157-98D0-523FD30DA08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D9BB5D0-35E4-459D-AEF3-FE4D7C45CC1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8f94a01dec4a25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blipFill xmlns:a="http://schemas.openxmlformats.org/drawingml/2006/main" rotWithShape="0">
          <a:blip xmlns:r="http://schemas.openxmlformats.org/officeDocument/2006/relationships" r:embed="R7a5612362c6b4231">
            <a:alphaModFix amt="26000"/>
          </a:blip>
          <a:stretch>
            <a:fillRect l="0" t="69000" r="0" b="-100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3D0E840-FB53-4013-AFD4-4E22840847F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8D1D26F6-B1D8-4C18-B6FB-4470510F00A3}" type="datetime1">
              <a:t>2026/6/15</a:t>
            </a:fld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CCDB220-5C4D-4E90-ADAB-DBC35C1D856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15D039D-1FBA-4287-BFB9-2B1F3C1E2CF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7D9BB5D0-35E4-459D-AEF3-FE4D7C45CC1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af8e63cb83394e10"/>
  </p:sldLayoutIdLst>
  <p:hf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5e76c713ee4d6d" /><Relationship Type="http://schemas.openxmlformats.org/officeDocument/2006/relationships/image" Target="/ppt/media/image2.png" Id="R0a197e68e5c14fea" /><Relationship Type="http://schemas.openxmlformats.org/officeDocument/2006/relationships/image" Target="/ppt/media/image2.jpeg" Id="R837fa80358654aa2" /><Relationship Type="http://schemas.openxmlformats.org/officeDocument/2006/relationships/image" Target="/ppt/media/image3.jpeg" Id="R41efd3f0f2da43a3" /><Relationship Type="http://schemas.openxmlformats.org/officeDocument/2006/relationships/image" Target="/ppt/media/image4.jpeg" Id="Ra55ea06bc4bf4ae3" /><Relationship Type="http://schemas.openxmlformats.org/officeDocument/2006/relationships/notesSlide" Target="/ppt/notesSlides/notesSlide1.xml" Id="R2ce8452a707140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d5648e80ad443f" /><Relationship Type="http://schemas.openxmlformats.org/officeDocument/2006/relationships/notesSlide" Target="/ppt/notesSlides/notesSlide2.xml" Id="Rec27e864aa134a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794fa54a3043de" /><Relationship Type="http://schemas.openxmlformats.org/officeDocument/2006/relationships/notesSlide" Target="/ppt/notesSlides/notesSlide3.xml" Id="R5eb10b9423be487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82336c1bb2434a" /><Relationship Type="http://schemas.openxmlformats.org/officeDocument/2006/relationships/notesSlide" Target="/ppt/notesSlides/notesSlide4.xml" Id="Ra3acc5c638b54d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513d974c6c4243" /><Relationship Type="http://schemas.openxmlformats.org/officeDocument/2006/relationships/notesSlide" Target="/ppt/notesSlides/notesSlide5.xml" Id="Ra24f3f9c62d34e5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abad6f27874331" /><Relationship Type="http://schemas.openxmlformats.org/officeDocument/2006/relationships/notesSlide" Target="/ppt/notesSlides/notesSlide6.xml" Id="R59c2bace915c4b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d5162b40a54c7b" /><Relationship Type="http://schemas.openxmlformats.org/officeDocument/2006/relationships/notesSlide" Target="/ppt/notesSlides/notesSlide7.xml" Id="Rf8a189b25c66464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9cec6bf8b4d77" /><Relationship Type="http://schemas.openxmlformats.org/officeDocument/2006/relationships/notesSlide" Target="/ppt/notesSlides/notesSlide8.xml" Id="R981d4548a24d494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c3ff641aec499b" /><Relationship Type="http://schemas.openxmlformats.org/officeDocument/2006/relationships/notesSlide" Target="/ppt/notesSlides/notesSlide9.xml" Id="R817e8e1bd3cb4a0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cc9d2ed5484ab5" /><Relationship Type="http://schemas.openxmlformats.org/officeDocument/2006/relationships/notesSlide" Target="/ppt/notesSlides/notesSlide10.xml" Id="R1329e285991f4d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3313b3be7a4a8f" /><Relationship Type="http://schemas.openxmlformats.org/officeDocument/2006/relationships/notesSlide" Target="/ppt/notesSlides/notesSlide11.xml" Id="Rd9bececb33464b3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c1b20a057b40f2" /><Relationship Type="http://schemas.openxmlformats.org/officeDocument/2006/relationships/notesSlide" Target="/ppt/notesSlides/notesSlide12.xml" Id="Rd0533cd1de52466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9f6a22be70478b" /><Relationship Type="http://schemas.openxmlformats.org/officeDocument/2006/relationships/image" Target="/ppt/media/image3.png" Id="Rac6bbba436ec4f39" /><Relationship Type="http://schemas.openxmlformats.org/officeDocument/2006/relationships/notesSlide" Target="/ppt/notesSlides/notesSlide13.xml" Id="R49cbf4579ebe460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c94b73e3a4157" /><Relationship Type="http://schemas.openxmlformats.org/officeDocument/2006/relationships/notesSlide" Target="/ppt/notesSlides/notesSlide14.xml" Id="R407ec9339a01485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3b9910be284f48" /><Relationship Type="http://schemas.openxmlformats.org/officeDocument/2006/relationships/notesSlide" Target="/ppt/notesSlides/notesSlide15.xml" Id="R2c632997d2fe47e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faaabf604440e" /><Relationship Type="http://schemas.openxmlformats.org/officeDocument/2006/relationships/notesSlide" Target="/ppt/notesSlides/notesSlide16.xml" Id="Rf5b64375bc98442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edfed0e0044ca" /><Relationship Type="http://schemas.openxmlformats.org/officeDocument/2006/relationships/notesSlide" Target="/ppt/notesSlides/notesSlide17.xml" Id="Rb468fafca9464a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7e83cfbb49441f" /><Relationship Type="http://schemas.openxmlformats.org/officeDocument/2006/relationships/notesSlide" Target="/ppt/notesSlides/notesSlide18.xml" Id="R8137d51b5e8e4f01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0d82b9411f46e8" /><Relationship Type="http://schemas.openxmlformats.org/officeDocument/2006/relationships/notesSlide" Target="/ppt/notesSlides/notesSlide19.xml" Id="R640b98e1201046d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3844dca354a37" /><Relationship Type="http://schemas.openxmlformats.org/officeDocument/2006/relationships/notesSlide" Target="/ppt/notesSlides/notesSlide20.xml" Id="R6d6a0c76367e499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38e59d4ecb4509" /><Relationship Type="http://schemas.openxmlformats.org/officeDocument/2006/relationships/notesSlide" Target="/ppt/notesSlides/notesSlide21.xml" Id="R1c1ebe7f2d2f4c6d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34dd81ca3e48a6" /><Relationship Type="http://schemas.openxmlformats.org/officeDocument/2006/relationships/notesSlide" Target="/ppt/notesSlides/notesSlide22.xml" Id="R3054e42f5d464582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d6bc56fcaa4b61" /><Relationship Type="http://schemas.openxmlformats.org/officeDocument/2006/relationships/notesSlide" Target="/ppt/notesSlides/notesSlide23.xml" Id="R7de1f57f56df4b8a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6cfedf66594ac3" /><Relationship Type="http://schemas.openxmlformats.org/officeDocument/2006/relationships/notesSlide" Target="/ppt/notesSlides/notesSlide24.xml" Id="Rf9382788a21f4c1a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af09fd71834200" /><Relationship Type="http://schemas.openxmlformats.org/officeDocument/2006/relationships/notesSlide" Target="/ppt/notesSlides/notesSlide25.xml" Id="R74899a3e733e439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65A1A3B-6416-AC7A-6C1D-F4765450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368" y="1124744"/>
            <a:ext cx="11377264" cy="24646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5">
              <a:lumMod val="75000"/>
            </a:schemeClr>
          </a:solidFill>
          <a:ln xmlns:a="http://schemas.openxmlformats.org/drawingml/2006/main" w="38100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lnSpc>
                <a:spcPct val="150000"/>
              </a:lnSpc>
              <a:spcBef>
                <a:spcPts val="0"/>
              </a:spcBef>
              <a:buChar char="•"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项目名称：ResinDB Pro v3.0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spcBef>
                <a:spcPts val="0"/>
              </a:spcBef>
              <a:buChar char="•"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课（专）题名称：工业级合成树脂产品数据与科研智能分析系统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spcBef>
                <a:spcPts val="0"/>
              </a:spcBef>
              <a:buChar char="•"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起止年限：阶段研发与本次验收：2026年1月—2026年6月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spcBef>
                <a:spcPts val="0"/>
              </a:spcBef>
              <a:buChar char="•"/>
            </a:pPr>
            <a:r>
              <a:rPr sz="2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主管部门：中国石油化工研究院（PRI）合成树脂研究所</a:t>
            </a:r>
          </a:p>
        </p:txBody>
      </p:sp>
      <p:sp>
        <p:nvSpPr>
          <p:cNvPr id="8" name="Text Box 21">
            <a:extLst xmlns:a="http://schemas.openxmlformats.org/drawingml/2006/main">
              <a:ext uri="{FF2B5EF4-FFF2-40B4-BE49-F238E27FC236}">
                <a16:creationId xmlns:a16="http://schemas.microsoft.com/office/drawing/2014/main" id="{D83E44F5-A761-0FC3-CE5E-EB59DE222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6120" y="3836974"/>
            <a:ext cx="4104456" cy="2432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spcBef>
                <a:spcPts val="0"/>
              </a:spcBef>
              <a:buNone/>
            </a:pPr>
            <a:r>
              <a: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承担单位：ResinDB Pro by SunHJ</a:t>
            </a:r>
          </a:p>
          <a:p xmlns:a="http://schemas.openxmlformats.org/drawingml/2006/main">
            <a:pPr>
              <a:lnSpc>
                <a:spcPct val="160000"/>
              </a:lnSpc>
              <a:spcBef>
                <a:spcPts val="0"/>
              </a:spcBef>
              <a:buNone/>
            </a:pPr>
            <a:r>
              <a: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汇报人：SunHJ / 2026年6月17日</a:t>
            </a:r>
          </a:p>
        </p:txBody>
      </p:sp>
      <p:sp>
        <p:nvSpPr>
          <p:cNvPr id="9" name="Text Box 21">
            <a:extLst xmlns:a="http://schemas.openxmlformats.org/drawingml/2006/main">
              <a:ext uri="{FF2B5EF4-FFF2-40B4-BE49-F238E27FC236}">
                <a16:creationId xmlns:a16="http://schemas.microsoft.com/office/drawing/2014/main" id="{7CD06D69-8ED1-5F4E-A0F6-8F0AD7AC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4152" y="5589240"/>
            <a:ext cx="3742233" cy="6766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spcBef>
                <a:spcPts val="0"/>
              </a:spcBef>
              <a:buNone/>
            </a:pPr>
            <a:r>
              <a: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 </a:t>
            </a:r>
          </a:p>
        </p:txBody>
      </p:sp>
      <p:sp>
        <p:nvSpPr>
          <p:cNvPr id="10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71FD175-7F7F-DF3A-4EDA-55F110D6F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4232" y="246238"/>
            <a:ext cx="4147939" cy="4937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10000"/>
              </a:lnSpc>
              <a:spcBef>
                <a:spcPts val="0"/>
              </a:spcBef>
              <a:buNone/>
            </a:pPr>
            <a:r>
              <a:rPr sz="2400" b="1">
                <a:solidFill>
                  <a:srgbClr val="2F5597"/>
                </a:solidFill>
                <a:latin typeface="微软雅黑"/>
                <a:ea typeface="微软雅黑"/>
                <a:cs typeface="微软雅黑"/>
              </a:rPr>
              <a:t>科技项目结题验收汇报材料</a:t>
            </a:r>
          </a:p>
        </p:txBody>
      </p:sp>
      <p:pic>
        <p:nvPicPr>
          <p:cNvPr id="19" name="Picture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97e68e5c14fe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368" y="3789040"/>
            <a:ext cx="1485061" cy="1401684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  <a:effectLst xmlns:a="http://schemas.openxmlformats.org/drawingml/2006/main">
            <a:outerShdw dist="53882" dir="2699999" algn="ctr" rotWithShape="0">
              <a:srgbClr val="DDDDDD"/>
            </a:outerShdw>
          </a:effectLst>
        </p:spPr>
      </p:pic>
      <p:pic>
        <p:nvPicPr>
          <p:cNvPr id="20" name="Picture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7fa80358654a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48281" y="3788026"/>
            <a:ext cx="1487034" cy="1427941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  <a:effectLst xmlns:a="http://schemas.openxmlformats.org/drawingml/2006/main">
            <a:outerShdw dist="53882" dir="2699999" algn="ctr" rotWithShape="0">
              <a:srgbClr val="DDDDDD"/>
            </a:outerShdw>
          </a:effectLst>
        </p:spPr>
      </p:pic>
      <p:pic>
        <p:nvPicPr>
          <p:cNvPr id="21" name="Picture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efd3f0f2da43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38972" y="3788026"/>
            <a:ext cx="1485061" cy="1427941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</a:ln>
          <a:effectLst xmlns:a="http://schemas.openxmlformats.org/drawingml/2006/main">
            <a:outerShdw dist="53882" dir="2699999" algn="ctr" rotWithShape="0">
              <a:srgbClr val="EAEAEA"/>
            </a:outerShdw>
          </a:effectLst>
        </p:spPr>
      </p:pic>
      <p:pic>
        <p:nvPicPr>
          <p:cNvPr id="22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ea06bc4bf4ae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15722" y="3789040"/>
            <a:ext cx="1487990" cy="1400246"/>
          </a:xfrm>
          <a:prstGeom xmlns:a="http://schemas.openxmlformats.org/drawingml/2006/main" prst="rect">
            <a:avLst/>
          </a:prstGeom>
          <a:ln xmlns:a="http://schemas.openxmlformats.org/drawingml/2006/main" w="9525">
            <a:noFill/>
            <a:miter/>
          </a:ln>
          <a:effectLst xmlns:a="http://schemas.openxmlformats.org/drawingml/2006/main">
            <a:outerShdw blurRad="50800" dist="53340" dir="2700000" algn="ctr" rotWithShape="0">
              <a:srgbClr val="DDDDDD"/>
            </a:outerShdw>
          </a:effectLst>
        </p:spPr>
      </p:pic>
    </p:spTree>
    <p:extLst>
      <p:ext uri="{BB962C8B-B14F-4D97-AF65-F5344CB8AC3E}">
        <p14:creationId xmlns:p14="http://schemas.microsoft.com/office/powerpoint/2010/main" val="73990416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E0CEC36-98E2-CDE2-0A80-83049116B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9150" y="-27384"/>
            <a:ext cx="5473700" cy="90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b="0" i="0" u="none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目  录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FD32CB58-4BCB-33EC-89B7-0672F7CD16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2</a:t>
            </a:fld>
          </a:p>
        </p:txBody>
      </p:sp>
      <p:sp>
        <p:nvSpPr>
          <p:cNvPr id="3" name="文本框 2">
            <a:extLst xmlns:a="http://schemas.openxmlformats.org/drawingml/2006/main">
              <a:ext uri="{FF2B5EF4-FFF2-40B4-BE49-F238E27FC236}">
                <a16:creationId xmlns:a16="http://schemas.microsoft.com/office/drawing/2014/main" id="{C73686F4-8B5C-87C1-7830-6BF3271A6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9536" y="1412776"/>
            <a:ext cx="5328592" cy="457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ln>
                  <a:noFill/>
                </a:ln>
                <a:solidFill>
                  <a:srgbClr val="000066"/>
                </a:solidFill>
                <a:latin typeface="微软雅黑"/>
                <a:ea typeface="微软雅黑"/>
                <a:cs typeface="微软雅黑"/>
              </a:rPr>
              <a:t>一、计划任务完成情况</a:t>
            </a:r>
          </a:p>
          <a:p xmlns:a="http://schemas.openxmlformats.org/drawingml/2006/main"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ln>
                  <a:noFill/>
                </a:ln>
                <a:solidFill>
                  <a:srgbClr val="000066"/>
                </a:solidFill>
                <a:latin typeface="微软雅黑"/>
                <a:ea typeface="微软雅黑"/>
                <a:cs typeface="微软雅黑"/>
              </a:rPr>
              <a:t>二、主要研究工作</a:t>
            </a:r>
          </a:p>
          <a:p xmlns:a="http://schemas.openxmlformats.org/drawingml/2006/main"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>
                <a:ln>
                  <a:noFill/>
                </a:ln>
                <a:solidFill>
                  <a:srgbClr val="000066"/>
                </a:solidFill>
                <a:latin typeface="微软雅黑"/>
                <a:ea typeface="微软雅黑"/>
                <a:cs typeface="微软雅黑"/>
              </a:rPr>
              <a:t>三、技术研究报告</a:t>
            </a:r>
          </a:p>
          <a:p xmlns:a="http://schemas.openxmlformats.org/drawingml/2006/main"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ln>
                  <a:noFill/>
                </a:ln>
                <a:solidFill>
                  <a:srgbClr val="000066"/>
                </a:solidFill>
                <a:latin typeface="微软雅黑"/>
                <a:ea typeface="微软雅黑"/>
                <a:cs typeface="微软雅黑"/>
              </a:rPr>
              <a:t>四、成果应用及前景</a:t>
            </a:r>
          </a:p>
          <a:p xmlns:a="http://schemas.openxmlformats.org/drawingml/2006/main"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ln>
                  <a:noFill/>
                </a:ln>
                <a:solidFill>
                  <a:srgbClr val="000066"/>
                </a:solidFill>
                <a:latin typeface="微软雅黑"/>
                <a:ea typeface="微软雅黑"/>
                <a:cs typeface="微软雅黑"/>
              </a:rPr>
              <a:t>五、对外合作及知识产权</a:t>
            </a:r>
          </a:p>
          <a:p xmlns:a="http://schemas.openxmlformats.org/drawingml/2006/main"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ln>
                  <a:noFill/>
                </a:ln>
                <a:solidFill>
                  <a:srgbClr val="000066"/>
                </a:solidFill>
                <a:latin typeface="微软雅黑"/>
                <a:ea typeface="微软雅黑"/>
                <a:cs typeface="微软雅黑"/>
              </a:rPr>
              <a:t>六、经费使用及决算</a:t>
            </a:r>
          </a:p>
          <a:p xmlns:a="http://schemas.openxmlformats.org/drawingml/2006/main"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800" b="1" i="0" u="none" cap="none">
                <a:ln>
                  <a:noFill/>
                </a:ln>
                <a:solidFill>
                  <a:srgbClr val="000066"/>
                </a:solidFill>
                <a:latin typeface="微软雅黑"/>
                <a:ea typeface="微软雅黑"/>
                <a:cs typeface="微软雅黑"/>
              </a:rPr>
              <a:t>七、总结与建议</a:t>
            </a:r>
          </a:p>
        </p:txBody>
      </p:sp>
    </p:spTree>
    <p:extLst>
      <p:ext uri="{BB962C8B-B14F-4D97-AF65-F5344CB8AC3E}">
        <p14:creationId xmlns:p14="http://schemas.microsoft.com/office/powerpoint/2010/main" val="13044987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 1">
            <a:extLst xmlns:a="http://schemas.openxmlformats.org/drawingml/2006/main">
              <a:ext uri="{FF2B5EF4-FFF2-40B4-BE49-F238E27FC236}">
                <a16:creationId xmlns:a16="http://schemas.microsoft.com/office/drawing/2014/main" id="{13DD02AB-862A-4421-92D7-DF4C53944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一、计划任务完成情况</a:t>
            </a:r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2A0816AF-A916-3870-EFD1-BB9780442B1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3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AF1F8DB-A506-8458-1983-F383545C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964801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1.1 项目背景</a:t>
            </a:r>
          </a:p>
        </p:txBody>
      </p:sp>
      <p:sp>
        <p:nvSpPr>
          <p:cNvPr id="7" name="Text Box 3">
            <a:extLst xmlns:a="http://schemas.openxmlformats.org/drawingml/2006/main">
              <a:ext uri="{FF2B5EF4-FFF2-40B4-BE49-F238E27FC236}">
                <a16:creationId xmlns:a16="http://schemas.microsoft.com/office/drawing/2014/main" id="{823AFF48-ACDF-7F48-6258-310736E6D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372" y="1628800"/>
            <a:ext cx="11305256" cy="28651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  <a:effectLst xmlns:a="http://schemas.openxmlformats.org/drawingml/2006/main">
            <a:outerShdw blurRad="50800" dist="38100" dir="2700000" algn="ctr" rotWithShape="0">
              <a:schemeClr val="bg1">
                <a:lumMod val="85000"/>
              </a:scheme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45720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91440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37160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1828800" algn="l">
              <a:spcBef>
                <a:spcPts val="0"/>
              </a:spcBef>
              <a:spcAft>
                <a:spcPts val="0"/>
              </a:spcAft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286000" algn="l"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743200" algn="l"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200400" algn="l"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657600" algn="l">
              <a:buNone/>
              <a:defRPr sz="1400" b="1"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 marL="342900" indent="-342900">
              <a:lnSpc>
                <a:spcPct val="150000"/>
              </a:lnSpc>
              <a:spcAft>
                <a:spcPts val="600"/>
              </a:spcAft>
              <a:buChar char="p"/>
            </a:pPr>
            <a:r>
              <a:rPr sz="1800" b="0"/>
              <a:t>• 合成树脂科研需要同时管理 PE、PP、PVC、ABS、工程塑料等多类牌号与物性指标。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spcAft>
                <a:spcPts val="600"/>
              </a:spcAft>
              <a:buChar char="p"/>
            </a:pPr>
            <a:r>
              <a:rPr sz="1800" b="0"/>
              <a:t>• 传统表格难以支撑高密度筛选、组合排序、科研可视化、模型计算和质量追踪的一体化工作流。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spcAft>
                <a:spcPts val="600"/>
              </a:spcAft>
              <a:buChar char="p"/>
            </a:pPr>
            <a:r>
              <a:rPr sz="1800" b="0"/>
              <a:t>• ResinDB Pro 面向材料数据仓库、实验室自测数据、流变/GPC/Ashby/失效概率等分析场景，提供可运行的前端科研系统。</a:t>
            </a:r>
          </a:p>
          <a:p xmlns:a="http://schemas.openxmlformats.org/drawingml/2006/main">
            <a:pPr marL="342900" indent="-342900">
              <a:lnSpc>
                <a:spcPct val="150000"/>
              </a:lnSpc>
              <a:spcAft>
                <a:spcPts val="600"/>
              </a:spcAft>
              <a:buChar char="p"/>
            </a:pPr>
            <a:r>
              <a:rPr sz="1800" b="0"/>
              <a:t>• 本次验收基于本地 303 个非第三方依赖文件、GitHub公开仓库页面和 2026-06-17 本地实测结果。</a:t>
            </a:r>
          </a:p>
        </p:txBody>
      </p:sp>
      <p:sp>
        <p:nvSpPr>
          <p:cNvPr id="8" name="source-note-3">
            <a:extLst xmlns:a="http://schemas.openxmlformats.org/drawingml/2006/main">
              <a:ext uri="{FF2B5EF4-FFF2-40B4-BE49-F238E27FC236}">
                <a16:creationId xmlns:a16="http://schemas.microsoft.com/office/drawing/2014/main" id="{8A527AE9-A402-4EA1-9938-11AD9CE8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来源：本地项目文件、GitHub公开仓库核对、2026-06-17本地验证</a:t>
            </a:r>
          </a:p>
        </p:txBody>
      </p:sp>
    </p:spTree>
    <p:extLst>
      <p:ext uri="{BB962C8B-B14F-4D97-AF65-F5344CB8AC3E}">
        <p14:creationId xmlns:p14="http://schemas.microsoft.com/office/powerpoint/2010/main" val="211771649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5C19C8C9-9579-CAC0-EDE9-16A6A046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一、计划任务完成情况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8ED12EEE-57EE-F319-F4DE-C682C4F9EE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4</a:t>
            </a:fld>
          </a:p>
        </p:txBody>
      </p:sp>
      <p:sp>
        <p:nvSpPr>
          <p:cNvPr id="4" name="TextBox 5">
            <a:extLst xmlns:a="http://schemas.openxmlformats.org/drawingml/2006/main">
              <a:ext uri="{FF2B5EF4-FFF2-40B4-BE49-F238E27FC236}">
                <a16:creationId xmlns:a16="http://schemas.microsoft.com/office/drawing/2014/main" id="{BB2BD658-0927-43C0-F27F-84BA6BA19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15" y="966246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1.2 总体研究目标</a:t>
            </a:r>
          </a:p>
        </p:txBody>
      </p:sp>
      <p:sp>
        <p:nvSpPr>
          <p:cNvPr id="3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2A276F7-65C2-5AFC-3D08-964877C2E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1988820"/>
            <a:ext cx="11455187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项目名称：ResinDB Pro v3.0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合同编号：仓库未提供正式合同编号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起止时间：2026年1月—2026年6月阶段验收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承担单位：ResinDB Pro by SunHJ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外协单位：仓库未提供外协合同/单位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攻关目标：构建高性能树脂数据管理、科研可视化、多模型 Worker 计算、可迁移数据适配和本地/云端部署能力。</a:t>
            </a:r>
          </a:p>
        </p:txBody>
      </p:sp>
    </p:spTree>
    <p:extLst>
      <p:ext uri="{BB962C8B-B14F-4D97-AF65-F5344CB8AC3E}">
        <p14:creationId xmlns:p14="http://schemas.microsoft.com/office/powerpoint/2010/main" val="139791166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1">
            <a:extLst xmlns:a="http://schemas.openxmlformats.org/drawingml/2006/main">
              <a:ext uri="{FF2B5EF4-FFF2-40B4-BE49-F238E27FC236}">
                <a16:creationId xmlns:a16="http://schemas.microsoft.com/office/drawing/2014/main" id="{3273B6BD-4552-8ACB-E2CE-6616AD438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一、计划任务完成情况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2FB4C484-1974-7447-BF1C-728FFB0ABC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5</a:t>
            </a:fld>
          </a:p>
        </p:txBody>
      </p:sp>
      <p:sp>
        <p:nvSpPr>
          <p:cNvPr id="10" name="TextBox 5">
            <a:extLst xmlns:a="http://schemas.openxmlformats.org/drawingml/2006/main">
              <a:ext uri="{FF2B5EF4-FFF2-40B4-BE49-F238E27FC236}">
                <a16:creationId xmlns:a16="http://schemas.microsoft.com/office/drawing/2014/main" id="{128AAE51-0616-8C39-E796-90396353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515" y="980728"/>
            <a:ext cx="901283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1.3 计划任务调整情况</a:t>
            </a:r>
          </a:p>
        </p:txBody>
      </p:sp>
      <p:sp>
        <p:nvSpPr>
          <p:cNvPr id="3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275044C-4CB0-8C84-EE77-B0F11B0E5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844824"/>
            <a:ext cx="11455187" cy="2453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• 仓库未提供独立的计划调整批复文件。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• 从文档链路看，项目已形成 V2、V3 技术报告与 V3 Release Notes，当前验收以 package.json 中 v3.0.0 为准。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• 技术路线由单一数据展示扩展为：React/Vite/Tailwind 前端、Adapter 数据层、IndexedDB/Remote/Firebase 接入、24 个 Worker 科学计算、报告导出与质量验证。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4BA22E7-85DD-40FD-E81B-0863DBA7F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5920" y="4549589"/>
            <a:ext cx="1569660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调整依据：README、V3报告、Release Notes、源码与本次实测</a:t>
            </a:r>
          </a:p>
        </p:txBody>
      </p:sp>
    </p:spTree>
    <p:extLst>
      <p:ext uri="{BB962C8B-B14F-4D97-AF65-F5344CB8AC3E}">
        <p14:creationId xmlns:p14="http://schemas.microsoft.com/office/powerpoint/2010/main" val="428539309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8" name="表格 6"/>
          <p:cNvGraphicFramePr/>
          <p:nvPr/>
        </p:nvGraphicFramePr>
        <p:xfrm>
          <a:off xmlns:a="http://schemas.openxmlformats.org/drawingml/2006/main" x="551384" y="1844824"/>
          <a:ext xmlns:a="http://schemas.openxmlformats.org/drawingml/2006/main" cx="11089233" cy="367240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918"/>
                <a:gridCol w="4503658"/>
                <a:gridCol w="4176464"/>
                <a:gridCol w="1728193"/>
              </a:tblGrid>
              <a:tr h="6063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研究内容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完成情况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是否完成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材料数据仓库与树形分类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本地数据集、分类树、数据质量筛选与表格视图已实现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高性能 DataGrid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虚拟滚动、列宽调整、组合筛选、排序、右键菜单、批量操作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科研可视化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D3 依赖谱图、Ashby、GPC、雷达、流变与多图表组件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科学计算 Worker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24 个独立 Worker 覆盖流变、寿命、聚类、敏感性等模型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数据适配与容灾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IProductAdapter、IndexedDB、Remote API fallback、Firebase rules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验证与交付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typecheck/test/build 本次实测通过，报告文档齐全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CEB20993-1938-2522-E1E8-201E6B4F2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一、计划任务完成情况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3CF34B86-2E11-2EE9-D8C7-9F75D5B349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6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0FD96D11-5F40-4036-C434-2649DB3A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980728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1.4 研究内容完成情况</a:t>
            </a:r>
          </a:p>
        </p:txBody>
      </p:sp>
      <p:sp>
        <p:nvSpPr>
          <p:cNvPr id="2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AA9E83D-C9F7-D4A0-A316-EF9810CE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94" y="5830325"/>
            <a:ext cx="11455187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结论：软件工程交付、核心功能与本地验证均已达到阶段验收范围。</a:t>
            </a:r>
          </a:p>
        </p:txBody>
      </p:sp>
    </p:spTree>
    <p:extLst>
      <p:ext uri="{BB962C8B-B14F-4D97-AF65-F5344CB8AC3E}">
        <p14:creationId xmlns:p14="http://schemas.microsoft.com/office/powerpoint/2010/main" val="413538822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标题 1">
            <a:extLst xmlns:a="http://schemas.openxmlformats.org/drawingml/2006/main">
              <a:ext uri="{FF2B5EF4-FFF2-40B4-BE49-F238E27FC236}">
                <a16:creationId xmlns:a16="http://schemas.microsoft.com/office/drawing/2014/main" id="{AAD5ABFF-14B7-CFA4-2FEF-A2234A873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一、计划任务完成情况</a:t>
            </a:r>
          </a:p>
        </p:txBody>
      </p:sp>
      <p:graphicFrame>
        <p:nvGraphicFramePr>
          <p:cNvPr id="10" name="表格 5"/>
          <p:cNvGraphicFramePr/>
          <p:nvPr/>
        </p:nvGraphicFramePr>
        <p:xfrm>
          <a:off xmlns:a="http://schemas.openxmlformats.org/drawingml/2006/main" x="695400" y="1916833"/>
          <a:ext xmlns:a="http://schemas.openxmlformats.org/drawingml/2006/main" cx="10585177" cy="214329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153"/>
                <a:gridCol w="3155455"/>
                <a:gridCol w="3024336"/>
                <a:gridCol w="2088233"/>
              </a:tblGrid>
              <a:tr h="6480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考核指标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完成值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是否达到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工程可运行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类型检查、测试、生产构建通过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tsc 通过；19/19 tests；Vite build 通过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达到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交互性能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大表避免全量 DOM 渲染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@tanstack/react-virtual、debounce、deferred value、WeakMap 索引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达到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可迁移性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UI 不绑定单一后端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IProductAdapter + IndexedDB / RemoteAPI / Firebase 规则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达到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351AF0A-9D06-E714-3F0F-B0AEB0C933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7</a:t>
            </a:fld>
          </a:p>
        </p:txBody>
      </p:sp>
      <p:sp>
        <p:nvSpPr>
          <p:cNvPr id="7" name="TextBox 5">
            <a:extLst xmlns:a="http://schemas.openxmlformats.org/drawingml/2006/main">
              <a:ext uri="{FF2B5EF4-FFF2-40B4-BE49-F238E27FC236}">
                <a16:creationId xmlns:a16="http://schemas.microsoft.com/office/drawing/2014/main" id="{87C44782-834C-ED2F-ADE2-EC9AC74D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966246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1.5 技术经济考核指标完成情况</a:t>
            </a:r>
          </a:p>
        </p:txBody>
      </p:sp>
      <p:sp>
        <p:nvSpPr>
          <p:cNvPr id="2" name="文本框 7">
            <a:extLst xmlns:a="http://schemas.openxmlformats.org/drawingml/2006/main">
              <a:ext uri="{FF2B5EF4-FFF2-40B4-BE49-F238E27FC236}">
                <a16:creationId xmlns:a16="http://schemas.microsoft.com/office/drawing/2014/main" id="{981CB6C6-D5BD-D795-893A-E1CCE135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925" y="4381222"/>
            <a:ext cx="11455187" cy="8002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latin typeface="微软雅黑"/>
                <a:ea typeface="微软雅黑"/>
                <a:cs typeface="微软雅黑"/>
              </a:rPr>
              <a:t>知识产权指标及完成情况：仓库未提供专利、软著或论文编号；建议验收后补录登记材料。</a:t>
            </a:r>
          </a:p>
        </p:txBody>
      </p:sp>
      <p:sp>
        <p:nvSpPr>
          <p:cNvPr id="3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104952C-FAFF-FDD9-C232-474EAB18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494" y="5877272"/>
            <a:ext cx="11455187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lvl1pPr marL="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注意：生产构建存在 vendor chunk 体积警告；不影响构建通过，但建议后续继续拆包优化。</a:t>
            </a:r>
          </a:p>
        </p:txBody>
      </p:sp>
    </p:spTree>
    <p:extLst>
      <p:ext uri="{BB962C8B-B14F-4D97-AF65-F5344CB8AC3E}">
        <p14:creationId xmlns:p14="http://schemas.microsoft.com/office/powerpoint/2010/main" val="1191784504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1D3F46FA-D7D3-31C9-9C57-D7EDC3AC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二、主要研究工作</a:t>
            </a:r>
          </a:p>
        </p:txBody>
      </p:sp>
      <p:graphicFrame>
        <p:nvGraphicFramePr>
          <p:cNvPr id="9" name="表格 4"/>
          <p:cNvGraphicFramePr/>
          <p:nvPr/>
        </p:nvGraphicFramePr>
        <p:xfrm>
          <a:off xmlns:a="http://schemas.openxmlformats.org/drawingml/2006/main" x="551384" y="1844824"/>
          <a:ext xmlns:a="http://schemas.openxmlformats.org/drawingml/2006/main" cx="11089232" cy="3719911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3351"/>
                <a:gridCol w="4633173"/>
                <a:gridCol w="5392708"/>
              </a:tblGrid>
              <a:tr h="589129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工作内容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工作量</a:t>
                      </a:r>
                    </a:p>
                  </a:txBody>
                  <a:tcPr marL="91440" marR="91440" marT="45720" marB="45720" anchor="ctr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项目文件遍历</a:t>
                      </a:r>
                    </a:p>
                  </a:txBody>
                  <a:tcPr marL="91445" marR="91445" marT="45711" marB="4571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非 node_modules / 非压缩包文件 303 个</a:t>
                      </a:r>
                    </a:p>
                  </a:txBody>
                  <a:tcPr marL="91445" marR="91445" marT="45711" marB="45711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源码规模</a:t>
                      </a:r>
                    </a:p>
                  </a:txBody>
                  <a:tcPr marL="91445" marR="91445" marT="45711" marB="4571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TS/TSX 源码 192 个，约 2.41 MB</a:t>
                      </a:r>
                    </a:p>
                  </a:txBody>
                  <a:tcPr marL="91445" marR="91445" marT="45711" marB="45711" anchor="ctr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计算内核</a:t>
                      </a:r>
                    </a:p>
                  </a:txBody>
                  <a:tcPr marL="91445" marR="91445" marT="45711" marB="45711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t>24 个 Web Worker 源文件</a:t>
                      </a:r>
                    </a:p>
                  </a:txBody>
                  <a:tcPr marL="91445" marR="91445" marT="45711" marB="45711" anchor="ctr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  <a:buNone/>
                      </a:pPr>
                      <a:r>
                        <a:t>测试验证</a:t>
                      </a:r>
                    </a:p>
                  </a:txBody>
                  <a:tcPr marL="68570" marR="68570" marT="17778" marB="177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  <a:buNone/>
                      </a:pPr>
                      <a:r>
                        <a:t>4 个测试文件，19 个测试用例，本次全部通过</a:t>
                      </a:r>
                    </a:p>
                  </a:txBody>
                  <a:tcPr marL="68570" marR="68570" marT="17778" marB="17778" anchor="ctr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  <a:buNone/>
                      </a:pPr>
                      <a:r>
                        <a:t>技术文档</a:t>
                      </a:r>
                    </a:p>
                  </a:txBody>
                  <a:tcPr marL="68570" marR="68570" marT="17778" marB="1777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560"/>
                        </a:lnSpc>
                        <a:buNone/>
                      </a:pPr>
                      <a:r>
                        <a:t>README、架构、质量基线、V3报告、Release Notes、测试报告</a:t>
                      </a:r>
                    </a:p>
                  </a:txBody>
                  <a:tcPr marL="68570" marR="68570" marT="17778" marB="17778" anchor="ctr"/>
                </a:tc>
              </a:tr>
              <a:tr h="52179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生产构建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rPr sz="1600">
                          <a:latin typeface="微软雅黑"/>
                          <a:ea typeface="微软雅黑"/>
                          <a:cs typeface="微软雅黑"/>
                        </a:rPr>
                        <a:t>Vite 转换 4355 modules，输出 dist 可预览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A6948263-03DC-F4D3-75C8-9F542F3753F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8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2CB1DF2-11D3-21F2-9492-A668DBEF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904683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2.1 实物工作量</a:t>
            </a:r>
          </a:p>
        </p:txBody>
      </p:sp>
    </p:spTree>
    <p:extLst>
      <p:ext uri="{BB962C8B-B14F-4D97-AF65-F5344CB8AC3E}">
        <p14:creationId xmlns:p14="http://schemas.microsoft.com/office/powerpoint/2010/main" val="11914687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FC24185C-B4C2-8DD3-35CA-928D468F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二、主要研究工作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F81843E-F2F2-4404-88AE-47454AD09C1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9</a:t>
            </a:fld>
          </a:p>
        </p:txBody>
      </p:sp>
      <p:sp>
        <p:nvSpPr>
          <p:cNvPr id="7" name="TextBox 5">
            <a:extLst xmlns:a="http://schemas.openxmlformats.org/drawingml/2006/main">
              <a:ext uri="{FF2B5EF4-FFF2-40B4-BE49-F238E27FC236}">
                <a16:creationId xmlns:a16="http://schemas.microsoft.com/office/drawing/2014/main" id="{50A4E287-8FEF-1D65-3885-A45DD5EB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847815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2.2 解决的关键技术问题</a:t>
            </a:r>
          </a:p>
        </p:txBody>
      </p:sp>
      <p:sp>
        <p:nvSpPr>
          <p:cNvPr id="8" name="Text Box 49">
            <a:extLst xmlns:a="http://schemas.openxmlformats.org/drawingml/2006/main">
              <a:ext uri="{FF2B5EF4-FFF2-40B4-BE49-F238E27FC236}">
                <a16:creationId xmlns:a16="http://schemas.microsoft.com/office/drawing/2014/main" id="{8F2342D3-6AE5-9304-1375-D74E2C4A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612" y="1644459"/>
            <a:ext cx="11448020" cy="2301238"/>
          </a:xfrm>
          <a:prstGeom xmlns:a="http://schemas.openxmlformats.org/drawingml/2006/main" prst="rect">
            <a:avLst/>
          </a:prstGeom>
          <a:ln xmlns:a="http://schemas.openxmlformats.org/drawingml/2006/main">
            <a:prstDash val="sysDash"/>
          </a:ln>
        </p:spPr>
        <p:style>
          <a:lnRef xmlns:a="http://schemas.openxmlformats.org/drawingml/2006/main" idx="2">
            <a:schemeClr val="accent3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3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square" lIns="91438" tIns="45719" rIns="91438" bIns="45719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</a:pPr>
            <a:r>
              <a:rPr sz="2000" b="1">
                <a:solidFill>
                  <a:schemeClr val="tx1"/>
                </a:solidFill>
                <a:highlight>
                  <a:srgbClr val="FFFF00"/>
                </a:highlight>
                <a:latin typeface="微软雅黑"/>
                <a:ea typeface="微软雅黑"/>
                <a:cs typeface="微软雅黑"/>
              </a:rPr>
              <a:t>关键技术问题1：高密度材料表格在搜索、排序、批量操作下容易卡顿。</a:t>
            </a:r>
          </a:p>
          <a:p xmlns:a="http://schemas.openxmlformats.org/drawingml/2006/main">
            <a:pPr marL="285750" indent="-285750">
              <a:lnSpc>
                <a:spcPct val="125000"/>
              </a:lnSpc>
              <a:buChar char="p"/>
            </a:pPr>
            <a:r>
              <a:rPr sz="20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解决：DataGrid 使用虚拟滚动、300ms debounce、useDeferredValue、WeakMap 文本索引与 Worker 计算隔离。</a:t>
            </a:r>
          </a:p>
          <a:p xmlns:a="http://schemas.openxmlformats.org/drawingml/2006/main">
            <a:pPr marL="285750" indent="-285750">
              <a:lnSpc>
                <a:spcPct val="125000"/>
              </a:lnSpc>
              <a:buChar char="p"/>
            </a:pPr>
            <a:r>
              <a:t/>
            </a:r>
          </a:p>
          <a:p xmlns:a="http://schemas.openxmlformats.org/drawingml/2006/main">
            <a:pPr marL="285750" indent="-285750">
              <a:lnSpc>
                <a:spcPct val="125000"/>
              </a:lnSpc>
              <a:buChar char="p"/>
            </a:pPr>
            <a:r>
              <a:rPr sz="2000" b="1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关键技术问题2：科研模型计算复杂且后端/本地数据源可能变化。</a:t>
            </a:r>
          </a:p>
          <a:p xmlns:a="http://schemas.openxmlformats.org/drawingml/2006/main">
            <a:pPr>
              <a:lnSpc>
                <a:spcPct val="125000"/>
              </a:lnSpc>
              <a:buNone/>
            </a:pPr>
            <a:r>
              <a:t>解决：24 个 Worker 承担流变/统计/优化模型；IProductAdapter 抽象 IndexedDB、Remote API 与 Firebase 接入。</a:t>
            </a:r>
          </a:p>
        </p:txBody>
      </p:sp>
    </p:spTree>
    <p:extLst>
      <p:ext uri="{BB962C8B-B14F-4D97-AF65-F5344CB8AC3E}">
        <p14:creationId xmlns:p14="http://schemas.microsoft.com/office/powerpoint/2010/main" val="337407049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12BE25A5-97B7-7C68-14B7-6B03A7668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二、主要研究工作</a:t>
            </a:r>
          </a:p>
        </p:txBody>
      </p:sp>
      <p:sp>
        <p:nvSpPr>
          <p:cNvPr id="5" name="object 2">
            <a:extLst xmlns:a="http://schemas.openxmlformats.org/drawingml/2006/main">
              <a:ext uri="{FF2B5EF4-FFF2-40B4-BE49-F238E27FC236}">
                <a16:creationId xmlns:a16="http://schemas.microsoft.com/office/drawing/2014/main" id="{70D8457A-3385-B3FA-84FA-121D59C0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92" y="1828947"/>
            <a:ext cx="10945216" cy="1600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175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>
                <a:latin typeface="微软雅黑"/>
                <a:ea typeface="微软雅黑"/>
                <a:cs typeface="微软雅黑"/>
              </a:rPr>
              <a:t>1. Adapter Pattern：UI 只依赖 IProductAdapter，后端可替换。</a:t>
            </a:r>
          </a:p>
          <a:p xmlns:a="http://schemas.openxmlformats.org/drawingml/2006/main">
            <a:pPr marL="3175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>
                <a:latin typeface="微软雅黑"/>
                <a:ea typeface="微软雅黑"/>
                <a:cs typeface="微软雅黑"/>
              </a:rPr>
              <a:t>2. Worker Grid：24 个计算线程覆盖材料物理、统计、优化模型。</a:t>
            </a:r>
          </a:p>
          <a:p xmlns:a="http://schemas.openxmlformats.org/drawingml/2006/main">
            <a:pPr marL="3175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>
                <a:latin typeface="微软雅黑"/>
                <a:ea typeface="微软雅黑"/>
                <a:cs typeface="微软雅黑"/>
              </a:rPr>
              <a:t>3. High-density Grid：虚拟滚动、列宽拖拽、sticky、右键菜单与批量操作。</a:t>
            </a:r>
          </a:p>
          <a:p xmlns:a="http://schemas.openxmlformats.org/drawingml/2006/main">
            <a:pPr marL="3175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>
                <a:latin typeface="微软雅黑"/>
                <a:ea typeface="微软雅黑"/>
                <a:cs typeface="微软雅黑"/>
              </a:rPr>
              <a:t>4. Scientific UX：D3 拓扑、Ashby/GPC/流变/雷达等科研视图整合。</a:t>
            </a:r>
          </a:p>
          <a:p xmlns:a="http://schemas.openxmlformats.org/drawingml/2006/main">
            <a:pPr marL="317500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>
                <a:latin typeface="微软雅黑"/>
                <a:ea typeface="微软雅黑"/>
                <a:cs typeface="微软雅黑"/>
              </a:rPr>
              <a:t>5. Quality Loop：ErrorBoundary、Toast、报告导出、测试和构建验证闭环。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4489334-9388-EB5E-167C-AEFE5055B6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10</a:t>
            </a:fld>
          </a:p>
        </p:txBody>
      </p:sp>
      <p:sp>
        <p:nvSpPr>
          <p:cNvPr id="7" name="TextBox 5">
            <a:extLst xmlns:a="http://schemas.openxmlformats.org/drawingml/2006/main">
              <a:ext uri="{FF2B5EF4-FFF2-40B4-BE49-F238E27FC236}">
                <a16:creationId xmlns:a16="http://schemas.microsoft.com/office/drawing/2014/main" id="{2EA3F50F-C835-2E5E-F581-95081244F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930963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2.3 创新点</a:t>
            </a:r>
          </a:p>
        </p:txBody>
      </p:sp>
      <p:sp>
        <p:nvSpPr>
          <p:cNvPr id="8" name="innovation-caption">
            <a:extLst xmlns:a="http://schemas.openxmlformats.org/drawingml/2006/main">
              <a:ext uri="{FF2B5EF4-FFF2-40B4-BE49-F238E27FC236}">
                <a16:creationId xmlns:a16="http://schemas.microsoft.com/office/drawing/2014/main" id="{F494E972-3421-480B-98B7-FE4B4664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952875"/>
            <a:ext cx="1000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核心创新围绕：高密度科研数据管理、计算隔离、可迁移数据层和科研级交互。</a:t>
            </a:r>
          </a:p>
        </p:txBody>
      </p:sp>
    </p:spTree>
    <p:extLst>
      <p:ext uri="{BB962C8B-B14F-4D97-AF65-F5344CB8AC3E}">
        <p14:creationId xmlns:p14="http://schemas.microsoft.com/office/powerpoint/2010/main" val="29981763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BD9DFE93-A3F1-7B2F-8FAA-603B4659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二、主要研究工作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A154DCAE-7953-F3CC-C90C-0E416AC804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11</a:t>
            </a:fld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D2FCA7DA-546A-492A-E7E2-F35B1B188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98" y="913108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2.4 取得的主要技术成果</a:t>
            </a:r>
          </a:p>
        </p:txBody>
      </p:sp>
      <p:sp>
        <p:nvSpPr>
          <p:cNvPr id="4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F0234D0-BFE3-BAC7-99EF-177957E4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700808"/>
            <a:ext cx="11455187" cy="28346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形成可运行的 React 19 + Vite 6 + Tailwind 4 前端科研系统。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完成材料数据仓库、树形分类、数据质量筛选、表格与多视图分析。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完成公式引擎、TOPSIS、Mahalanobis、Pareto、GPC、流变、寿命等分析能力。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完成 IndexedDB 本地容灾、Remote API fallback、Firestore 安全规则和部署配置。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本次实测：typecheck 通过；Vitest 19/19 通过；生产构建通过。</a:t>
            </a:r>
          </a:p>
        </p:txBody>
      </p:sp>
    </p:spTree>
    <p:extLst>
      <p:ext uri="{BB962C8B-B14F-4D97-AF65-F5344CB8AC3E}">
        <p14:creationId xmlns:p14="http://schemas.microsoft.com/office/powerpoint/2010/main" val="136771049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1695FE95-123F-D004-C1C5-36BBE0380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三、技术研究报告</a:t>
            </a:r>
          </a:p>
        </p:txBody>
      </p:sp>
      <p:sp>
        <p:nvSpPr>
          <p:cNvPr id="43" name="AutoShape 8">
            <a:extLst xmlns:a="http://schemas.openxmlformats.org/drawingml/2006/main">
              <a:ext uri="{FF2B5EF4-FFF2-40B4-BE49-F238E27FC236}">
                <a16:creationId xmlns:a16="http://schemas.microsoft.com/office/drawing/2014/main" id="{D4CFFD43-8A83-5F75-94D3-A6C46AA6F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178" y="2478544"/>
            <a:ext cx="615950" cy="2438608"/>
          </a:xfrm>
          <a:prstGeom xmlns:a="http://schemas.openxmlformats.org/drawingml/2006/main" prst="roundRect">
            <a:avLst>
              <a:gd name="adj" fmla="val 16667"/>
            </a:avLst>
          </a:prstGeom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</a:pPr>
            <a:r>
              <a:rPr sz="24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</a:rPr>
              <a:t>技术路线图</a:t>
            </a:r>
          </a:p>
        </p:txBody>
      </p:sp>
      <p:sp>
        <p:nvSpPr>
          <p:cNvPr id="2" name="文本框 1">
            <a:extLst xmlns:a="http://schemas.openxmlformats.org/drawingml/2006/main">
              <a:ext uri="{FF2B5EF4-FFF2-40B4-BE49-F238E27FC236}">
                <a16:creationId xmlns:a16="http://schemas.microsoft.com/office/drawing/2014/main" id="{09A8E4C8-2E06-6333-C448-32E26F7F6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1664" y="1830786"/>
            <a:ext cx="646331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数据源 → 适配器 → Hooks/Context → 高密度 UI → Worker 分析 → 报告/部署</a:t>
            </a:r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37BA1598-BF19-E6C0-12E1-B5B25DDED2D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12</a:t>
            </a:fld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75AAA98-A6B1-051E-D975-95613303D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889806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Char char="p"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研究思路</a:t>
            </a:r>
          </a:p>
        </p:txBody>
      </p:sp>
      <p:sp>
        <p:nvSpPr>
          <p:cNvPr id="44" name="route-box-0">
            <a:extLst xmlns:a="http://schemas.openxmlformats.org/drawingml/2006/main">
              <a:ext uri="{FF2B5EF4-FFF2-40B4-BE49-F238E27FC236}">
                <a16:creationId xmlns:a16="http://schemas.microsoft.com/office/drawing/2014/main" id="{97E533B6-BEE3-4AB6-818E-A5F93ADA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2333625"/>
            <a:ext cx="1619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3F4"/>
            </a:solidFill>
            <a:prstDash val="solid"/>
          </a:ln>
        </p:spPr>
      </p:sp>
      <p:sp>
        <p:nvSpPr>
          <p:cNvPr id="45" name="route-text-0">
            <a:extLst xmlns:a="http://schemas.openxmlformats.org/drawingml/2006/main">
              <a:ext uri="{FF2B5EF4-FFF2-40B4-BE49-F238E27FC236}">
                <a16:creationId xmlns:a16="http://schemas.microsoft.com/office/drawing/2014/main" id="{6720DB55-D942-485A-8B19-E9726D99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76500"/>
            <a:ext cx="1390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数据源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polymerDatabase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openMarket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myLab</a:t>
            </a:r>
          </a:p>
        </p:txBody>
      </p:sp>
      <p:sp>
        <p:nvSpPr>
          <p:cNvPr id="46" name="route-arrow-0">
            <a:extLst xmlns:a="http://schemas.openxmlformats.org/drawingml/2006/main">
              <a:ext uri="{FF2B5EF4-FFF2-40B4-BE49-F238E27FC236}">
                <a16:creationId xmlns:a16="http://schemas.microsoft.com/office/drawing/2014/main" id="{EB40C5CD-D995-46C6-8FD0-BBB639A23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098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47" name="route-box-1">
            <a:extLst xmlns:a="http://schemas.openxmlformats.org/drawingml/2006/main">
              <a:ext uri="{FF2B5EF4-FFF2-40B4-BE49-F238E27FC236}">
                <a16:creationId xmlns:a16="http://schemas.microsoft.com/office/drawing/2014/main" id="{DDF60F5D-4735-44AB-9A29-9C35E105A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333625"/>
            <a:ext cx="1619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E3F4"/>
            </a:solidFill>
            <a:prstDash val="solid"/>
          </a:ln>
        </p:spPr>
      </p:sp>
      <p:sp>
        <p:nvSpPr>
          <p:cNvPr id="48" name="route-text-1">
            <a:extLst xmlns:a="http://schemas.openxmlformats.org/drawingml/2006/main">
              <a:ext uri="{FF2B5EF4-FFF2-40B4-BE49-F238E27FC236}">
                <a16:creationId xmlns:a16="http://schemas.microsoft.com/office/drawing/2014/main" id="{992DAE82-F190-47D7-B2E9-68918425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6675" y="2476500"/>
            <a:ext cx="1390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适配层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IProductAdapter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IndexedDB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Remote API</a:t>
            </a:r>
          </a:p>
        </p:txBody>
      </p:sp>
      <p:sp>
        <p:nvSpPr>
          <p:cNvPr id="49" name="route-arrow-1">
            <a:extLst xmlns:a="http://schemas.openxmlformats.org/drawingml/2006/main">
              <a:ext uri="{FF2B5EF4-FFF2-40B4-BE49-F238E27FC236}">
                <a16:creationId xmlns:a16="http://schemas.microsoft.com/office/drawing/2014/main" id="{64BD93E5-799F-4C1E-AC1A-C5507AA03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00675" y="28098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0" name="route-box-2">
            <a:extLst xmlns:a="http://schemas.openxmlformats.org/drawingml/2006/main">
              <a:ext uri="{FF2B5EF4-FFF2-40B4-BE49-F238E27FC236}">
                <a16:creationId xmlns:a16="http://schemas.microsoft.com/office/drawing/2014/main" id="{9AC78563-7BDC-48F4-B695-F75606E2D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333625"/>
            <a:ext cx="1619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3F4"/>
            </a:solidFill>
            <a:prstDash val="solid"/>
          </a:ln>
        </p:spPr>
      </p:sp>
      <p:sp>
        <p:nvSpPr>
          <p:cNvPr id="51" name="route-text-2">
            <a:extLst xmlns:a="http://schemas.openxmlformats.org/drawingml/2006/main">
              <a:ext uri="{FF2B5EF4-FFF2-40B4-BE49-F238E27FC236}">
                <a16:creationId xmlns:a16="http://schemas.microsoft.com/office/drawing/2014/main" id="{B21061B0-069C-411F-8A61-418DFC3A3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476500"/>
            <a:ext cx="1390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状态层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useDatabase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DataContext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UIContext</a:t>
            </a:r>
          </a:p>
        </p:txBody>
      </p:sp>
      <p:sp>
        <p:nvSpPr>
          <p:cNvPr id="52" name="route-arrow-2">
            <a:extLst xmlns:a="http://schemas.openxmlformats.org/drawingml/2006/main">
              <a:ext uri="{FF2B5EF4-FFF2-40B4-BE49-F238E27FC236}">
                <a16:creationId xmlns:a16="http://schemas.microsoft.com/office/drawing/2014/main" id="{53780C04-D473-4244-AA82-FB3A5B3A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8098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3" name="route-box-3">
            <a:extLst xmlns:a="http://schemas.openxmlformats.org/drawingml/2006/main">
              <a:ext uri="{FF2B5EF4-FFF2-40B4-BE49-F238E27FC236}">
                <a16:creationId xmlns:a16="http://schemas.microsoft.com/office/drawing/2014/main" id="{28FD1C56-52A2-4017-853A-521840FA5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33625"/>
            <a:ext cx="1619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EFF6FF"/>
          </a:solidFill>
          <a:ln xmlns:a="http://schemas.openxmlformats.org/drawingml/2006/main" w="9525">
            <a:solidFill>
              <a:srgbClr val="D7E3F4"/>
            </a:solidFill>
            <a:prstDash val="solid"/>
          </a:ln>
        </p:spPr>
      </p:sp>
      <p:sp>
        <p:nvSpPr>
          <p:cNvPr id="54" name="route-text-3">
            <a:extLst xmlns:a="http://schemas.openxmlformats.org/drawingml/2006/main">
              <a:ext uri="{FF2B5EF4-FFF2-40B4-BE49-F238E27FC236}">
                <a16:creationId xmlns:a16="http://schemas.microsoft.com/office/drawing/2014/main" id="{A1679B81-4371-4535-9E09-05334B875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76500"/>
            <a:ext cx="1390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展现层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DataGrid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Analytics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D3/ECharts</a:t>
            </a:r>
          </a:p>
        </p:txBody>
      </p:sp>
      <p:sp>
        <p:nvSpPr>
          <p:cNvPr id="55" name="route-arrow-3">
            <a:extLst xmlns:a="http://schemas.openxmlformats.org/drawingml/2006/main">
              <a:ext uri="{FF2B5EF4-FFF2-40B4-BE49-F238E27FC236}">
                <a16:creationId xmlns:a16="http://schemas.microsoft.com/office/drawing/2014/main" id="{5DE54967-F912-44A0-B179-3A513789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2809875"/>
            <a:ext cx="30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E40AF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56" name="route-box-4">
            <a:extLst xmlns:a="http://schemas.openxmlformats.org/drawingml/2006/main">
              <a:ext uri="{FF2B5EF4-FFF2-40B4-BE49-F238E27FC236}">
                <a16:creationId xmlns:a16="http://schemas.microsoft.com/office/drawing/2014/main" id="{0F8931E5-18FE-49C7-BD3C-531B46C8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333625"/>
            <a:ext cx="1619250" cy="13335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7E3F4"/>
            </a:solidFill>
            <a:prstDash val="solid"/>
          </a:ln>
        </p:spPr>
      </p:sp>
      <p:sp>
        <p:nvSpPr>
          <p:cNvPr id="57" name="route-text-4">
            <a:extLst xmlns:a="http://schemas.openxmlformats.org/drawingml/2006/main">
              <a:ext uri="{FF2B5EF4-FFF2-40B4-BE49-F238E27FC236}">
                <a16:creationId xmlns:a16="http://schemas.microsoft.com/office/drawing/2014/main" id="{07356B66-9F64-4674-A24C-5B3CF0BD2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476500"/>
            <a:ext cx="13906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计算层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24 Workers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Formula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Quality</a:t>
            </a:r>
          </a:p>
        </p:txBody>
      </p:sp>
      <p:sp>
        <p:nvSpPr>
          <p:cNvPr id="58" name="route-bottom">
            <a:extLst xmlns:a="http://schemas.openxmlformats.org/drawingml/2006/main">
              <a:ext uri="{FF2B5EF4-FFF2-40B4-BE49-F238E27FC236}">
                <a16:creationId xmlns:a16="http://schemas.microsoft.com/office/drawing/2014/main" id="{79AE58E3-7998-4809-A134-4E0D8986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33875"/>
            <a:ext cx="952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技术原则：UI 与数据逻辑解耦；重计算下沉到 Worker；部署层支持本地离线与 Firebase/GCP 演进。</a:t>
            </a:r>
          </a:p>
        </p:txBody>
      </p:sp>
    </p:spTree>
    <p:extLst>
      <p:ext uri="{BB962C8B-B14F-4D97-AF65-F5344CB8AC3E}">
        <p14:creationId xmlns:p14="http://schemas.microsoft.com/office/powerpoint/2010/main" val="22021226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C52EC328-92D3-BE9B-B37E-B11FA5D8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三、技术研究报告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3FF9061-D452-7C6D-D114-8D234543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4312" y="3429000"/>
            <a:ext cx="2031325" cy="369332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6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6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实机截图：ResinDB 数据仓库</a:t>
            </a:r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166D493-5DD9-B0FD-01D6-733EEE7EE4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13</a:t>
            </a:fld>
          </a:p>
        </p:txBody>
      </p:sp>
      <p:sp>
        <p:nvSpPr>
          <p:cNvPr id="7" name="TextBox 5">
            <a:extLst xmlns:a="http://schemas.openxmlformats.org/drawingml/2006/main">
              <a:ext uri="{FF2B5EF4-FFF2-40B4-BE49-F238E27FC236}">
                <a16:creationId xmlns:a16="http://schemas.microsoft.com/office/drawing/2014/main" id="{C6CA1571-4D22-BADE-BE39-9739FC692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836712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457200" indent="-457200">
              <a:lnSpc>
                <a:spcPct val="150000"/>
              </a:lnSpc>
              <a:buChar char="p"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技术研究报告内容：数据仓库实机界面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6bbba436ec4f39"/>
          <a:stretch xmlns:a="http://schemas.openxmlformats.org/drawingml/2006/main"/>
        </p:blipFill>
        <p:spPr>
          <a:xfrm xmlns:a="http://schemas.openxmlformats.org/drawingml/2006/main">
            <a:off x="2528888" y="1571625"/>
            <a:ext cx="7086600" cy="4429125"/>
          </a:xfrm>
          <a:prstGeom xmlns:a="http://schemas.openxmlformats.org/drawingml/2006/main" prst="rect">
            <a:avLst/>
          </a:prstGeom>
        </p:spPr>
      </p:pic>
      <p:sp>
        <p:nvSpPr>
          <p:cNvPr id="9" name="source-note-13">
            <a:extLst xmlns:a="http://schemas.openxmlformats.org/drawingml/2006/main">
              <a:ext uri="{FF2B5EF4-FFF2-40B4-BE49-F238E27FC236}">
                <a16:creationId xmlns:a16="http://schemas.microsoft.com/office/drawing/2014/main" id="{8756B2EE-55D0-4325-AAFC-DD232064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2865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6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截图来源：本地 dist 预览服务，演示账号 localStorage，仅用于验收展示</a:t>
            </a:r>
          </a:p>
        </p:txBody>
      </p:sp>
    </p:spTree>
    <p:extLst>
      <p:ext uri="{BB962C8B-B14F-4D97-AF65-F5344CB8AC3E}">
        <p14:creationId xmlns:p14="http://schemas.microsoft.com/office/powerpoint/2010/main" val="3613926437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7F4D05D9-20B0-6F8D-E851-A5235B8E8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三、技术研究报告</a:t>
            </a:r>
          </a:p>
        </p:txBody>
      </p:sp>
      <p:sp>
        <p:nvSpPr>
          <p:cNvPr id="5" name="Text Box 6">
            <a:extLst xmlns:a="http://schemas.openxmlformats.org/drawingml/2006/main">
              <a:ext uri="{FF2B5EF4-FFF2-40B4-BE49-F238E27FC236}">
                <a16:creationId xmlns:a16="http://schemas.microsoft.com/office/drawing/2014/main" id="{9F2B2FA0-E370-9B9F-A3E6-DDB50D85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982" y="1557048"/>
            <a:ext cx="315341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4589F28-913D-71B9-196B-341DCE90D7E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14</a:t>
            </a:fld>
          </a:p>
        </p:txBody>
      </p:sp>
      <p:sp>
        <p:nvSpPr>
          <p:cNvPr id="8" name="TextBox 5">
            <a:extLst xmlns:a="http://schemas.openxmlformats.org/drawingml/2006/main">
              <a:ext uri="{FF2B5EF4-FFF2-40B4-BE49-F238E27FC236}">
                <a16:creationId xmlns:a16="http://schemas.microsoft.com/office/drawing/2014/main" id="{76BD55F2-49D4-6B57-F4BB-C4C07AF94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836712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3.1 系统架构与数据适配</a:t>
            </a:r>
          </a:p>
        </p:txBody>
      </p:sp>
      <p:sp>
        <p:nvSpPr>
          <p:cNvPr id="9" name="arch-panel">
            <a:extLst xmlns:a="http://schemas.openxmlformats.org/drawingml/2006/main">
              <a:ext uri="{FF2B5EF4-FFF2-40B4-BE49-F238E27FC236}">
                <a16:creationId xmlns:a16="http://schemas.microsoft.com/office/drawing/2014/main" id="{861F7A94-DD4F-4592-A36D-3E076028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572750" cy="3619500"/>
          </a:xfrm>
          <a:prstGeom xmlns:a="http://schemas.openxmlformats.org/drawingml/2006/main" prst="roundRect">
            <a:avLst>
              <a:gd name="adj" fmla="val 157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arch-body">
            <a:extLst xmlns:a="http://schemas.openxmlformats.org/drawingml/2006/main">
              <a:ext uri="{FF2B5EF4-FFF2-40B4-BE49-F238E27FC236}">
                <a16:creationId xmlns:a16="http://schemas.microsoft.com/office/drawing/2014/main" id="{20E6FD03-0AB1-4782-9CEA-95E68F7FC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985837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UI 层：App / Dashboard / DataGrid / Analytics / D3 拓扑，页面组件只负责渲染与事件派发。</a:t>
            </a:r>
          </a:p>
          <a:p xmlns:a="http://schemas.openxmlformats.org/drawingml/2006/main">
            <a:pPr>
              <a:buNone/>
              <a:def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状态层：useDatabase、useDataGrid、useColumns、useShortcuts 与 Context Providers 管理业务状态。</a:t>
            </a:r>
          </a:p>
          <a:p xmlns:a="http://schemas.openxmlformats.org/drawingml/2006/main">
            <a:pPr>
              <a:buNone/>
              <a:def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服务层：api.ts + IProductAdapter，IndexedDBProductAdapter 与 RemoteAPIProductAdapter 共享接口。</a:t>
            </a:r>
          </a:p>
          <a:p xmlns:a="http://schemas.openxmlformats.org/drawingml/2006/main">
            <a:pPr>
              <a:buNone/>
              <a:def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数据与安全：本地 JSON/IndexedDB 种子、Firebase 配置、Firestore deny-by-default + 角色规则。</a:t>
            </a:r>
          </a:p>
          <a:p xmlns:a="http://schemas.openxmlformats.org/drawingml/2006/main">
            <a:pPr>
              <a:buNone/>
              <a:def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构建部署：Vite manualChunks、dist 产物、Firebase hosting/firestore 配置。</a:t>
            </a:r>
          </a:p>
        </p:txBody>
      </p:sp>
      <p:sp>
        <p:nvSpPr>
          <p:cNvPr id="11" name="arch-evidence">
            <a:extLst xmlns:a="http://schemas.openxmlformats.org/drawingml/2006/main">
              <a:ext uri="{FF2B5EF4-FFF2-40B4-BE49-F238E27FC236}">
                <a16:creationId xmlns:a16="http://schemas.microsoft.com/office/drawing/2014/main" id="{7F75BFE3-125E-4EC5-B100-489949DE5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62500"/>
            <a:ext cx="985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关键证据：src/lib/adapters/types.ts 定义 IProductAdapter；IndexedDB 与 Remote API 均实现同一接口。</a:t>
            </a:r>
          </a:p>
        </p:txBody>
      </p:sp>
    </p:spTree>
    <p:extLst>
      <p:ext uri="{BB962C8B-B14F-4D97-AF65-F5344CB8AC3E}">
        <p14:creationId xmlns:p14="http://schemas.microsoft.com/office/powerpoint/2010/main" val="138387759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0EFFD67B-4D15-2190-1B52-B711E6C0F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三、技术研究报告</a:t>
            </a:r>
          </a:p>
        </p:txBody>
      </p:sp>
      <p:sp>
        <p:nvSpPr>
          <p:cNvPr id="5" name="Text Box 6">
            <a:extLst xmlns:a="http://schemas.openxmlformats.org/drawingml/2006/main">
              <a:ext uri="{FF2B5EF4-FFF2-40B4-BE49-F238E27FC236}">
                <a16:creationId xmlns:a16="http://schemas.microsoft.com/office/drawing/2014/main" id="{570C5F0E-E738-E252-BBFD-B92E125B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982" y="1557048"/>
            <a:ext cx="315341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AB24684-72FB-39F1-6F12-BCDCE07BF8B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15</a:t>
            </a:fld>
          </a:p>
        </p:txBody>
      </p:sp>
      <p:sp>
        <p:nvSpPr>
          <p:cNvPr id="8" name="TextBox 5">
            <a:extLst xmlns:a="http://schemas.openxmlformats.org/drawingml/2006/main">
              <a:ext uri="{FF2B5EF4-FFF2-40B4-BE49-F238E27FC236}">
                <a16:creationId xmlns:a16="http://schemas.microsoft.com/office/drawing/2014/main" id="{539BB06F-04E9-2F72-880C-1E3697E96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440" y="836712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3.2 性能与交互工程</a:t>
            </a:r>
          </a:p>
        </p:txBody>
      </p:sp>
      <p:sp>
        <p:nvSpPr>
          <p:cNvPr id="9" name="perf-panel">
            <a:extLst xmlns:a="http://schemas.openxmlformats.org/drawingml/2006/main">
              <a:ext uri="{FF2B5EF4-FFF2-40B4-BE49-F238E27FC236}">
                <a16:creationId xmlns:a16="http://schemas.microsoft.com/office/drawing/2014/main" id="{5CBE74DE-F874-4E53-A474-0A4548385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10572750" cy="3762375"/>
          </a:xfrm>
          <a:prstGeom xmlns:a="http://schemas.openxmlformats.org/drawingml/2006/main" prst="roundRect">
            <a:avLst>
              <a:gd name="adj" fmla="val 151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perf-body">
            <a:extLst xmlns:a="http://schemas.openxmlformats.org/drawingml/2006/main">
              <a:ext uri="{FF2B5EF4-FFF2-40B4-BE49-F238E27FC236}">
                <a16:creationId xmlns:a16="http://schemas.microsoft.com/office/drawing/2014/main" id="{BEF52E31-1626-47C2-A604-D2859600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9858375" cy="300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DataGrid 引入 @tanstack/react-virtual，仅渲染可视行，支撑大表流畅滚动。</a:t>
            </a:r>
          </a:p>
          <a:p xmlns:a="http://schemas.openxmlformats.org/drawingml/2006/main">
            <a:pPr>
              <a:buNone/>
              <a:def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useDatabase 使用 debounce(300ms)、useDeferredValue 和 WeakMap 文本索引，降低搜索抖动与重复字符串构建。</a:t>
            </a:r>
          </a:p>
          <a:p xmlns:a="http://schemas.openxmlformats.org/drawingml/2006/main">
            <a:pPr>
              <a:buNone/>
              <a:def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列宽调整、sticky offset、右键菜单、键盘导航和批量选择提高高频操作效率。</a:t>
            </a:r>
          </a:p>
          <a:p xmlns:a="http://schemas.openxmlformats.org/drawingml/2006/main">
            <a:pPr>
              <a:buNone/>
              <a:def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Framer Motion / motion.react 承担面板、菜单、过滤构建器、错误页等微交互。</a:t>
            </a:r>
          </a:p>
          <a:p xmlns:a="http://schemas.openxmlformats.org/drawingml/2006/main">
            <a:pPr>
              <a:buNone/>
              <a:def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ErrorBoundary、Toast、loading/skeleton、fallback 数据保障弱网或异常场景可恢复。</a:t>
            </a:r>
          </a:p>
        </p:txBody>
      </p:sp>
      <p:sp>
        <p:nvSpPr>
          <p:cNvPr id="11" name="perf-warning">
            <a:extLst xmlns:a="http://schemas.openxmlformats.org/drawingml/2006/main">
              <a:ext uri="{FF2B5EF4-FFF2-40B4-BE49-F238E27FC236}">
                <a16:creationId xmlns:a16="http://schemas.microsoft.com/office/drawing/2014/main" id="{E5F93066-5ACE-4809-8C2C-7F8CC060F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53000"/>
            <a:ext cx="9858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92400E"/>
                </a:solidFill>
                <a:latin typeface="Microsoft YaHei"/>
                <a:ea typeface="Microsoft YaHei"/>
                <a:cs typeface="Microsoft YaHei"/>
              </a:rPr>
              <a:t>构建提示：vendor chunk &gt; 2000 kB，建议后续继续拆分依赖包。</a:t>
            </a:r>
          </a:p>
        </p:txBody>
      </p:sp>
    </p:spTree>
    <p:extLst>
      <p:ext uri="{BB962C8B-B14F-4D97-AF65-F5344CB8AC3E}">
        <p14:creationId xmlns:p14="http://schemas.microsoft.com/office/powerpoint/2010/main" val="316416496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02797AC8-2CC5-D9E3-139E-02AAC0868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三、技术研究报告</a:t>
            </a:r>
          </a:p>
        </p:txBody>
      </p:sp>
      <p:sp>
        <p:nvSpPr>
          <p:cNvPr id="5" name="Text Box 6">
            <a:extLst xmlns:a="http://schemas.openxmlformats.org/drawingml/2006/main">
              <a:ext uri="{FF2B5EF4-FFF2-40B4-BE49-F238E27FC236}">
                <a16:creationId xmlns:a16="http://schemas.microsoft.com/office/drawing/2014/main" id="{64503A4B-B7EA-B4E4-11CA-1A0207B3E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982" y="1557048"/>
            <a:ext cx="3153410" cy="460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AC40FE6-CE8D-211A-D0C0-BDF486187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528" y="1052736"/>
            <a:ext cx="11605120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713E3EA8-87F0-6595-0884-51FDF0628F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16</a:t>
            </a:fld>
          </a:p>
        </p:txBody>
      </p:sp>
      <p:sp>
        <p:nvSpPr>
          <p:cNvPr id="2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ECC769F-E0D5-1242-82B1-C432BEC5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1843998"/>
            <a:ext cx="11455187" cy="36728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ResinDB Pro v3.0 已形成可运行、可构建、可测试的前端科研数据系统。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核心功能覆盖数据仓库、数据质量、科研可视化、公式计算、模型分析、导入导出和管理入口。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架构采用 Adapter + Hooks + Context + Worker 的分层设计，具备迁移到 Firebase、REST API 或其他数据库的基础。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本次验收建议：软件交付物通过阶段验收；将版本号统一、覆盖率/E2E、后端真实数据接入作为后续优化项。</a:t>
            </a:r>
          </a:p>
        </p:txBody>
      </p:sp>
    </p:spTree>
    <p:extLst>
      <p:ext uri="{BB962C8B-B14F-4D97-AF65-F5344CB8AC3E}">
        <p14:creationId xmlns:p14="http://schemas.microsoft.com/office/powerpoint/2010/main" val="408533452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60C141BA-477B-455B-7753-64EFB1C25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四、成果应用及前景</a:t>
            </a:r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6FEFEFAC-EA73-4329-8EF5-D06D489AB3F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17</a:t>
            </a:fld>
          </a:p>
        </p:txBody>
      </p:sp>
      <p:sp>
        <p:nvSpPr>
          <p:cNvPr id="11" name="TextBox 5">
            <a:extLst xmlns:a="http://schemas.openxmlformats.org/drawingml/2006/main">
              <a:ext uri="{FF2B5EF4-FFF2-40B4-BE49-F238E27FC236}">
                <a16:creationId xmlns:a16="http://schemas.microsoft.com/office/drawing/2014/main" id="{EB2E0D48-AE2A-9BF5-7223-4BE645A6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871535"/>
            <a:ext cx="2532112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4.1 成果应用</a:t>
            </a:r>
          </a:p>
        </p:txBody>
      </p:sp>
      <p:sp>
        <p:nvSpPr>
          <p:cNvPr id="12" name="app-panel">
            <a:extLst xmlns:a="http://schemas.openxmlformats.org/drawingml/2006/main">
              <a:ext uri="{FF2B5EF4-FFF2-40B4-BE49-F238E27FC236}">
                <a16:creationId xmlns:a16="http://schemas.microsoft.com/office/drawing/2014/main" id="{E52C0B7B-7E1D-40A0-B77A-D9FE4B12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572750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3" name="app-body">
            <a:extLst xmlns:a="http://schemas.openxmlformats.org/drawingml/2006/main">
              <a:ext uri="{FF2B5EF4-FFF2-40B4-BE49-F238E27FC236}">
                <a16:creationId xmlns:a16="http://schemas.microsoft.com/office/drawing/2014/main" id="{393A4D2A-7D45-4BB5-963F-045F30BE9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9763125" cy="276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面向 PRI 合成树脂研究所的牌号资料管理、出厂指标对标与实验室自测数据沉淀。</a:t>
            </a:r>
          </a:p>
          <a:p xmlns:a="http://schemas.openxmlformats.org/drawingml/2006/main">
            <a:pPr>
              <a:buNone/>
              <a:def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支持材料筛选、数据质量审计、TOPSIS 排序、Pareto 前沿和 Mahalanobis 异常检查。</a:t>
            </a:r>
          </a:p>
          <a:p xmlns:a="http://schemas.openxmlformats.org/drawingml/2006/main">
            <a:pPr>
              <a:buNone/>
              <a:def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支持科研分析：GPC 分布、流变曲线、Ashby 空间、雷达对标、D3 上下游依赖网络。</a:t>
            </a:r>
          </a:p>
          <a:p xmlns:a="http://schemas.openxmlformats.org/drawingml/2006/main">
            <a:pPr>
              <a:buNone/>
              <a:def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适用于本地离线演示、科研小组内网部署，以及后续接入 Firebase/GCP 或自定义 REST 服务。</a:t>
            </a:r>
          </a:p>
          <a:p xmlns:a="http://schemas.openxmlformats.org/drawingml/2006/main">
            <a:pPr>
              <a:buNone/>
              <a:def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应用形态：浏览器端高密度科研工作台。</a:t>
            </a:r>
          </a:p>
        </p:txBody>
      </p:sp>
    </p:spTree>
    <p:extLst>
      <p:ext uri="{BB962C8B-B14F-4D97-AF65-F5344CB8AC3E}">
        <p14:creationId xmlns:p14="http://schemas.microsoft.com/office/powerpoint/2010/main" val="2503807617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D663EB6D-4CEF-C0F0-ACBD-3115661AA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四、成果应用及前景</a:t>
            </a:r>
          </a:p>
        </p:txBody>
      </p:sp>
      <p:sp>
        <p:nvSpPr>
          <p:cNvPr id="8" name="灯片编号占位符 7">
            <a:extLst xmlns:a="http://schemas.openxmlformats.org/drawingml/2006/main">
              <a:ext uri="{FF2B5EF4-FFF2-40B4-BE49-F238E27FC236}">
                <a16:creationId xmlns:a16="http://schemas.microsoft.com/office/drawing/2014/main" id="{966E7B51-E0E7-0194-A303-B783A5433F4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18</a:t>
            </a:fld>
          </a:p>
        </p:txBody>
      </p:sp>
      <p:sp>
        <p:nvSpPr>
          <p:cNvPr id="14" name="TextBox 5">
            <a:extLst xmlns:a="http://schemas.openxmlformats.org/drawingml/2006/main">
              <a:ext uri="{FF2B5EF4-FFF2-40B4-BE49-F238E27FC236}">
                <a16:creationId xmlns:a16="http://schemas.microsoft.com/office/drawing/2014/main" id="{D5797D18-0BFF-1EDB-32F5-AC6E0078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60" y="890192"/>
            <a:ext cx="3036168" cy="7315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4.2 预期应用前景</a:t>
            </a:r>
          </a:p>
        </p:txBody>
      </p:sp>
      <p:sp>
        <p:nvSpPr>
          <p:cNvPr id="15" name="prospect-panel">
            <a:extLst xmlns:a="http://schemas.openxmlformats.org/drawingml/2006/main">
              <a:ext uri="{FF2B5EF4-FFF2-40B4-BE49-F238E27FC236}">
                <a16:creationId xmlns:a16="http://schemas.microsoft.com/office/drawing/2014/main" id="{37E66666-BA82-4016-8A76-4366B6ABA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0572750" cy="3476625"/>
          </a:xfrm>
          <a:prstGeom xmlns:a="http://schemas.openxmlformats.org/drawingml/2006/main" prst="roundRect">
            <a:avLst>
              <a:gd name="adj" fmla="val 164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prospect-body">
            <a:extLst xmlns:a="http://schemas.openxmlformats.org/drawingml/2006/main">
              <a:ext uri="{FF2B5EF4-FFF2-40B4-BE49-F238E27FC236}">
                <a16:creationId xmlns:a16="http://schemas.microsoft.com/office/drawing/2014/main" id="{15855527-7D94-4615-B3A1-53381309E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97631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数据治理：接入真实实验室 LIMS、ERP 或数据库，统一牌号、厂家、批次、测试标准与来源。</a:t>
            </a:r>
          </a:p>
          <a:p xmlns:a="http://schemas.openxmlformats.org/drawingml/2006/main">
            <a:pPr>
              <a:buNone/>
              <a:def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算法深化：扩大材料模型参数验证，补充模型置信区间、单位换算、异常诊断和审计日志。</a:t>
            </a:r>
          </a:p>
          <a:p xmlns:a="http://schemas.openxmlformats.org/drawingml/2006/main">
            <a:pPr>
              <a:buNone/>
              <a:def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工程生产化：补齐 E2E、覆盖率、性能基准、用户权限、备份恢复和云端监控。</a:t>
            </a:r>
          </a:p>
          <a:p xmlns:a="http://schemas.openxmlformats.org/drawingml/2006/main">
            <a:pPr>
              <a:buNone/>
              <a:def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成果转化：以 ResinDB Pro 为基础申报软件著作权，并沉淀材料数据智能分析方法。</a:t>
            </a:r>
          </a:p>
        </p:txBody>
      </p:sp>
    </p:spTree>
    <p:extLst>
      <p:ext uri="{BB962C8B-B14F-4D97-AF65-F5344CB8AC3E}">
        <p14:creationId xmlns:p14="http://schemas.microsoft.com/office/powerpoint/2010/main" val="2896983611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56D22001-2B97-67DB-DF70-EF83FD43C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五、对外合作及知识产权</a:t>
            </a:r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B02B1008-89FE-A6A3-F8BD-D78DC2CE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956" y="1490941"/>
            <a:ext cx="23160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研究内容完成情况</a:t>
            </a:r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546B31B-4E37-D615-B121-9D9FF5AB909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19</a:t>
            </a:fld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738D2FB9-653F-0491-3A46-C592AFD8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088" y="1031282"/>
            <a:ext cx="4968552" cy="408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 algn="r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外协单位：仓库未提供外协合同/单位</a:t>
            </a: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80750693-69E7-E99E-0B1B-EA940E697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9" y="940387"/>
            <a:ext cx="3600401" cy="8947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1285"/>
              </a:spcBef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5.1 对外合作</a:t>
            </a:r>
          </a:p>
        </p:txBody>
      </p:sp>
      <p:sp>
        <p:nvSpPr>
          <p:cNvPr id="6" name="文本框 7">
            <a:extLst xmlns:a="http://schemas.openxmlformats.org/drawingml/2006/main">
              <a:ext uri="{FF2B5EF4-FFF2-40B4-BE49-F238E27FC236}">
                <a16:creationId xmlns:a16="http://schemas.microsoft.com/office/drawing/2014/main" id="{4AA9E83D-C9F7-D4A0-A316-EF9810CE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63" y="5797120"/>
            <a:ext cx="11455187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说明：本页按仓库证据如实填写；未见外协合同，不虚构外协成果。</a:t>
            </a:r>
          </a:p>
        </p:txBody>
      </p:sp>
      <p:graphicFrame>
        <p:nvGraphicFramePr>
          <p:cNvPr id="16" name="表格 10"/>
          <p:cNvGraphicFramePr/>
          <p:nvPr/>
        </p:nvGraphicFramePr>
        <p:xfrm>
          <a:off xmlns:a="http://schemas.openxmlformats.org/drawingml/2006/main" x="838200" y="1988839"/>
          <a:ext xmlns:a="http://schemas.openxmlformats.org/drawingml/2006/main" cx="11089233" cy="3672409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0918"/>
                <a:gridCol w="4503658"/>
                <a:gridCol w="4176464"/>
                <a:gridCol w="1728193"/>
              </a:tblGrid>
              <a:tr h="60633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研究内容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完成情况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是否完成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需求与资料梳理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README、架构文档、V3报告、测试报告已形成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核心功能开发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数据仓库、视图、计算、适配器、导出与管理入口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3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本地验证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typecheck/test/build 均通过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4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外协合同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仓库未提供外协合同或单位资料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待补录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5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外部验收材料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经费、专利、软著申请文件需业务侧补充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待补录</a:t>
                      </a:r>
                    </a:p>
                  </a:txBody>
                  <a:tcPr marL="91440" marR="91440" marT="45720" marB="45720" anchor="ctr"/>
                </a:tc>
              </a:tr>
              <a:tr h="511012">
                <a:tc>
                  <a:txBody>
                    <a:bodyPr/>
                    <a:lstStyle/>
                    <a:p>
                      <a:r>
                        <a:t>6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汇报材料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本 PPT 已按模板整理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完成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650152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B7571B7A-8605-8080-844E-1F1960C3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五、对外合作及知识产权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1DB90CF7-EA79-4C0C-A916-C71F43B15E4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20</a:t>
            </a:fld>
          </a:p>
        </p:txBody>
      </p:sp>
      <p:sp>
        <p:nvSpPr>
          <p:cNvPr id="5" name="文本框 7">
            <a:extLst xmlns:a="http://schemas.openxmlformats.org/drawingml/2006/main">
              <a:ext uri="{FF2B5EF4-FFF2-40B4-BE49-F238E27FC236}">
                <a16:creationId xmlns:a16="http://schemas.microsoft.com/office/drawing/2014/main" id="{B30F7494-1755-3422-0AE9-656D2E11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90" y="2348054"/>
            <a:ext cx="11455187" cy="176784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当前项目交付物以本地源码、公开 GitHub 仓库、文档、测试和构建产物为主。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对外合作字段暂无可核验证据，建议后续补充合作单位、合同编号、任务书、交付验收记录。</a:t>
            </a:r>
          </a:p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sz="2000" b="1">
                <a:latin typeface="微软雅黑"/>
                <a:ea typeface="微软雅黑"/>
                <a:cs typeface="微软雅黑"/>
              </a:rPr>
              <a:t>• 若需形成正式项目验收卷宗，应把本 PPT 与财务决算、知识产权申请、外协验收表合并归档。</a:t>
            </a:r>
          </a:p>
        </p:txBody>
      </p:sp>
      <p:sp>
        <p:nvSpPr>
          <p:cNvPr id="8" name="TextBox 5">
            <a:extLst xmlns:a="http://schemas.openxmlformats.org/drawingml/2006/main">
              <a:ext uri="{FF2B5EF4-FFF2-40B4-BE49-F238E27FC236}">
                <a16:creationId xmlns:a16="http://schemas.microsoft.com/office/drawing/2014/main" id="{C88D75DB-E130-52FF-51A7-40E7CD7C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956" y="1636626"/>
            <a:ext cx="231608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取得结论和成果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A7D6D08-8C69-D691-0205-F98AA5FD3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088" y="1031282"/>
            <a:ext cx="4968552" cy="408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 algn="r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外协单位：未提供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4897710-DE69-35B5-AD93-D8CF9A810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9" y="940387"/>
            <a:ext cx="3600401" cy="8947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1285"/>
              </a:spcBef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5.1 对外合作</a:t>
            </a:r>
          </a:p>
        </p:txBody>
      </p:sp>
    </p:spTree>
    <p:extLst>
      <p:ext uri="{BB962C8B-B14F-4D97-AF65-F5344CB8AC3E}">
        <p14:creationId xmlns:p14="http://schemas.microsoft.com/office/powerpoint/2010/main" val="1177000998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18EE001E-0170-4BE3-4E71-209BAE2C1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五、对外合作及知识产权</a:t>
            </a:r>
          </a:p>
        </p:txBody>
      </p:sp>
      <p:graphicFrame>
        <p:nvGraphicFramePr>
          <p:cNvPr id="15" name="表格 4"/>
          <p:cNvGraphicFramePr/>
          <p:nvPr/>
        </p:nvGraphicFramePr>
        <p:xfrm>
          <a:off xmlns:a="http://schemas.openxmlformats.org/drawingml/2006/main" x="695400" y="2204865"/>
          <a:ext xmlns:a="http://schemas.openxmlformats.org/drawingml/2006/main" cx="10585177" cy="2143292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7153"/>
                <a:gridCol w="2580466"/>
                <a:gridCol w="2843779"/>
                <a:gridCol w="2843779"/>
              </a:tblGrid>
              <a:tr h="64807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项目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考核指标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完成值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是否达到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交付完整性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源码、文档、构建产物齐备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303 个非依赖文件；dist 已生成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达到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质量验证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测试与构建通过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19/19 tests；build 通过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达到</a:t>
                      </a:r>
                    </a:p>
                  </a:txBody>
                  <a:tcPr marL="91440" marR="91440" marT="45720" marB="45720" anchor="ctr"/>
                </a:tc>
              </a:tr>
              <a:tr h="498407">
                <a:tc>
                  <a:txBody>
                    <a:bodyPr/>
                    <a:lstStyle/>
                    <a:p>
                      <a:r>
                        <a:t>外协资料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合同与预验收记录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仓库未提供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待补录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7" name="TextBox 5">
            <a:extLst xmlns:a="http://schemas.openxmlformats.org/drawingml/2006/main">
              <a:ext uri="{FF2B5EF4-FFF2-40B4-BE49-F238E27FC236}">
                <a16:creationId xmlns:a16="http://schemas.microsoft.com/office/drawing/2014/main" id="{EC515CD6-AC9F-D008-CBC4-29D0D55B5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3752" y="1556792"/>
            <a:ext cx="4248472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考核指标完成情况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879F3DA-3475-7F86-70AA-16EC7DAB40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21</a:t>
            </a:fld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1DB4E438-1B0F-CE49-BB12-DA0E57388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8088" y="1031282"/>
            <a:ext cx="4968552" cy="4089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12700" algn="r">
              <a:lnSpc>
                <a:spcPct val="100000"/>
              </a:lnSpc>
              <a:spcBef>
                <a:spcPts val="100"/>
              </a:spcBef>
              <a:buNone/>
            </a:pPr>
            <a:r>
              <a:rPr sz="20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外协单位：未提供</a:t>
            </a: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E6CDB46-CE05-7871-04C8-93229FB18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9" y="940387"/>
            <a:ext cx="3600401" cy="8947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1285"/>
              </a:spcBef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5.1 对外合作</a:t>
            </a:r>
          </a:p>
        </p:txBody>
      </p:sp>
      <p:sp>
        <p:nvSpPr>
          <p:cNvPr id="12" name="文本框 7">
            <a:extLst xmlns:a="http://schemas.openxmlformats.org/drawingml/2006/main">
              <a:ext uri="{FF2B5EF4-FFF2-40B4-BE49-F238E27FC236}">
                <a16:creationId xmlns:a16="http://schemas.microsoft.com/office/drawing/2014/main" id="{A5F27DDA-2B44-93F0-3111-4B01B725E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063" y="5797120"/>
            <a:ext cx="11455187" cy="65532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96240" indent="-396240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Char char="p"/>
            </a:pPr>
            <a:r>
              <a:rPr b="1">
                <a:latin typeface="微软雅黑"/>
                <a:ea typeface="微软雅黑"/>
                <a:cs typeface="微软雅黑"/>
              </a:rPr>
              <a:t>结论：软件自身验收指标已通过；外协资料无法从仓库核验。</a:t>
            </a:r>
          </a:p>
        </p:txBody>
      </p:sp>
    </p:spTree>
    <p:extLst>
      <p:ext uri="{BB962C8B-B14F-4D97-AF65-F5344CB8AC3E}">
        <p14:creationId xmlns:p14="http://schemas.microsoft.com/office/powerpoint/2010/main" val="38403779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E78027A8-1850-6907-3BBE-02635480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五、对外合作及知识产权</a:t>
            </a:r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4D627193-7F6D-3E6B-A64F-7DCB7751D9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22</a:t>
            </a:fld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BA58132-2EE3-0D74-6132-DC12D0943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29" y="940387"/>
            <a:ext cx="3600401" cy="89471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spcBef>
                <a:spcPts val="1285"/>
              </a:spcBef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5.2 知识产权</a:t>
            </a:r>
          </a:p>
        </p:txBody>
      </p:sp>
      <p:graphicFrame>
        <p:nvGraphicFramePr>
          <p:cNvPr id="19" name="表格 12"/>
          <p:cNvGraphicFramePr/>
          <p:nvPr/>
        </p:nvGraphicFramePr>
        <p:xfrm>
          <a:off xmlns:a="http://schemas.openxmlformats.org/drawingml/2006/main" x="335360" y="2996952"/>
          <a:ext xmlns:a="http://schemas.openxmlformats.org/drawingml/2006/main" cx="11599205" cy="2779498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5963"/>
                <a:gridCol w="1565732"/>
                <a:gridCol w="1725502"/>
                <a:gridCol w="1725502"/>
                <a:gridCol w="1725502"/>
                <a:gridCol w="1725502"/>
                <a:gridCol w="1725502"/>
              </a:tblGrid>
              <a:tr h="50405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序号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专利/软著名称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申请人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简要描述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对应创新点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外协单位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产生方式</a:t>
                      </a:r>
                    </a:p>
                  </a:txBody>
                  <a:tcPr marL="68580" marR="68580" marT="0" marB="0" anchor="ctr"/>
                </a:tc>
              </a:tr>
              <a:tr h="1137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1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ResinDB Pro 合成树脂科研数据管理系统（建议软著）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待定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材料数据仓库、可视化、Worker计算与适配器架构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数据密集型科研工作台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无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独立研发</a:t>
                      </a:r>
                    </a:p>
                  </a:txBody>
                  <a:tcPr marL="91440" marR="91440" marT="45720" marB="45720" anchor="ctr"/>
                </a:tc>
              </a:tr>
              <a:tr h="113772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>
                          <a:latin typeface="微软雅黑"/>
                          <a:ea typeface="微软雅黑"/>
                          <a:cs typeface="微软雅黑"/>
                        </a:rPr>
                        <a:t>2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材料多模型质量评估与可视化方法（建议储备）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待定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TOPSIS/Pareto/Mahalanobis/GPC/流变等组合分析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多模型科研分析流程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无</a:t>
                      </a:r>
                    </a:p>
                  </a:txBody>
                  <a:tcPr marL="91440" marR="91440" marT="45720" marB="45720" anchor="ctr"/>
                </a:tc>
                <a:tc>
                  <a:txBody>
                    <a:bodyPr/>
                    <a:lstStyle/>
                    <a:p>
                      <a:r>
                        <a:t>独立研发</a:t>
                      </a:r>
                    </a:p>
                  </a:txBody>
                  <a:tcPr marL="91440" marR="91440" marT="45720" marB="45720" anchor="ctr"/>
                </a:tc>
              </a:tr>
            </a:tbl>
          </a:graphicData>
        </a:graphic>
      </p:graphicFrame>
      <p:sp>
        <p:nvSpPr>
          <p:cNvPr id="14" name="文本框 7">
            <a:extLst xmlns:a="http://schemas.openxmlformats.org/drawingml/2006/main">
              <a:ext uri="{FF2B5EF4-FFF2-40B4-BE49-F238E27FC236}">
                <a16:creationId xmlns:a16="http://schemas.microsoft.com/office/drawing/2014/main" id="{3D9238CE-A8D2-AFB2-3414-235DA349B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376" y="1692677"/>
            <a:ext cx="11455187" cy="80021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28575">
            <a:solidFill>
              <a:srgbClr val="000000">
                <a:alpha val="0"/>
              </a:srgbClr>
            </a:solidFill>
            <a:prstDash val="sysDash"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sz="1800" b="1">
                <a:latin typeface="微软雅黑"/>
                <a:ea typeface="微软雅黑"/>
                <a:cs typeface="微软雅黑"/>
              </a:rPr>
              <a:t>知识产权指标及完成情况：仓库未发现专利、软著、论文或申请号文件；以下为建议登记方向。</a:t>
            </a:r>
          </a:p>
        </p:txBody>
      </p:sp>
    </p:spTree>
    <p:extLst>
      <p:ext uri="{BB962C8B-B14F-4D97-AF65-F5344CB8AC3E}">
        <p14:creationId xmlns:p14="http://schemas.microsoft.com/office/powerpoint/2010/main" val="3083649751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1ACC3DFF-5433-FAD6-4F69-6A706A73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六、经费使用及决算</a:t>
            </a:r>
          </a:p>
        </p:txBody>
      </p:sp>
      <p:graphicFrame>
        <p:nvGraphicFramePr>
          <p:cNvPr id="9" name="表格 4"/>
          <p:cNvGraphicFramePr/>
          <p:nvPr/>
        </p:nvGraphicFramePr>
        <p:xfrm>
          <a:off xmlns:a="http://schemas.openxmlformats.org/drawingml/2006/main" x="623392" y="1700808"/>
          <a:ext xmlns:a="http://schemas.openxmlformats.org/drawingml/2006/main" cx="10945217" cy="4092124"/>
        </p:xfrm>
        <a:graphic xmlns:a="http://schemas.openxmlformats.org/drawingml/2006/main"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67944"/>
                <a:gridCol w="2680461"/>
                <a:gridCol w="1824203"/>
                <a:gridCol w="1824203"/>
                <a:gridCol w="1824203"/>
                <a:gridCol w="1824203"/>
              </a:tblGrid>
              <a:tr h="504056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编号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名称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原预算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调整后预算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决算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buNone/>
                      </a:pPr>
                      <a:r>
                        <a:rPr sz="1100">
                          <a:latin typeface="微软雅黑"/>
                          <a:ea typeface="微软雅黑"/>
                          <a:cs typeface="微软雅黑"/>
                        </a:rPr>
                        <a:t>结余</a:t>
                      </a:r>
                    </a:p>
                  </a:txBody>
                  <a:tcPr marL="68580" marR="68580" marT="0" marB="0" anchor="ctr"/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前端开发与架构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2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科研算法与 Worker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/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3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UI/UX 与交互设计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4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测试验证与质量报告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5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文档、PPT、验收材料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6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云服务/API/部署资源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7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外协与知识产权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8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预备与不可预见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待补录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9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合计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待财务确认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待财务确认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待财务确认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待财务确认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10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说明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仓库无财务凭证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不作金额推断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不作金额推断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需补充</a:t>
                      </a:r>
                    </a:p>
                  </a:txBody>
                  <a:tcPr marL="68580" marR="68580" marT="0" marB="0" anchor="ctr">
                    <a:solidFill>
                      <a:srgbClr val="EAEFF7"/>
                    </a:solidFill>
                  </a:tcPr>
                </a:tc>
              </a:tr>
              <a:tr h="32618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11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附件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财务决算表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发票/合同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付款记录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t>待归档</a:t>
                      </a:r>
                    </a:p>
                  </a:txBody>
                  <a:tcPr marL="68580" marR="68580" marT="0" marB="0" anchor="ctr">
                    <a:solidFill>
                      <a:srgbClr val="D2DEEF"/>
                    </a:solidFill>
                  </a:tcPr>
                </a:tc>
              </a:tr>
            </a:tbl>
          </a:graphicData>
        </a:graphic>
      </p:graphicFrame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FC8F0905-9226-BAE3-11C4-9721F822A6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23</a:t>
            </a:fld>
          </a:p>
        </p:txBody>
      </p:sp>
      <p:sp>
        <p:nvSpPr>
          <p:cNvPr id="6" name="object 3">
            <a:extLst xmlns:a="http://schemas.openxmlformats.org/drawingml/2006/main">
              <a:ext uri="{FF2B5EF4-FFF2-40B4-BE49-F238E27FC236}">
                <a16:creationId xmlns:a16="http://schemas.microsoft.com/office/drawing/2014/main" id="{56C65FFE-F1D7-F03C-1DA9-D35231D10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052" y="1171481"/>
            <a:ext cx="8861315" cy="112268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12700" rIns="0" bIns="0">
            <a:spAutoFit/>
          </a:bodyPr>
          <a:lstStyle xmlns:a="http://schemas.openxmlformats.org/drawingml/2006/main"/>
          <a:p xmlns:a="http://schemas.openxmlformats.org/drawingml/2006/main">
            <a:pPr marL="355600" indent="-342900">
              <a:lnSpc>
                <a:spcPct val="100000"/>
              </a:lnSpc>
              <a:spcBef>
                <a:spcPts val="100"/>
              </a:spcBef>
              <a:buChar char="p"/>
            </a:pPr>
            <a:r>
              <a:rPr sz="2400" b="1">
                <a:latin typeface="微软雅黑"/>
                <a:ea typeface="微软雅黑"/>
                <a:cs typeface="微软雅黑"/>
              </a:rPr>
              <a:t>经费资料未随仓库提供；本页仅列软件研发投入归口，金额需财务台账确认。</a:t>
            </a:r>
          </a:p>
        </p:txBody>
      </p:sp>
    </p:spTree>
    <p:extLst>
      <p:ext uri="{BB962C8B-B14F-4D97-AF65-F5344CB8AC3E}">
        <p14:creationId xmlns:p14="http://schemas.microsoft.com/office/powerpoint/2010/main" val="3845071508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标题 1">
            <a:extLst xmlns:a="http://schemas.openxmlformats.org/drawingml/2006/main">
              <a:ext uri="{FF2B5EF4-FFF2-40B4-BE49-F238E27FC236}">
                <a16:creationId xmlns:a16="http://schemas.microsoft.com/office/drawing/2014/main" id="{53376A37-1F0E-3976-64AC-61E4FBBD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472" y="137669"/>
            <a:ext cx="9505056" cy="5822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280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2pPr>
            <a:lvl3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3pPr>
            <a:lvl4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4pPr>
            <a:lvl5pPr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5pPr>
            <a:lvl6pPr marL="4572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6pPr>
            <a:lvl7pPr marL="9144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7pPr>
            <a:lvl8pPr marL="13716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8pPr>
            <a:lvl9pPr marL="1828800" algn="ctr">
              <a:spcBef>
                <a:spcPts val="0"/>
              </a:spcBef>
              <a:spcAft>
                <a:spcPts val="0"/>
              </a:spcAft>
              <a:buNone/>
              <a:defRPr sz="4400">
                <a:solidFill>
                  <a:schemeClr val="tx2"/>
                </a:solidFill>
                <a:latin typeface="Arial"/>
                <a:ea typeface="Arial"/>
                <a:cs typeface="Arial"/>
              </a:defRPr>
            </a:lvl9pPr>
          </a:lstStyle>
          <a:p xmlns:a="http://schemas.openxmlformats.org/drawingml/2006/main">
            <a:pPr>
              <a:buNone/>
            </a:pPr>
            <a:r>
              <a:rPr sz="32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1C50A54C-C58B-CB91-30E4-68420041408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24</a:t>
            </a:fld>
          </a:p>
        </p:txBody>
      </p:sp>
      <p:sp>
        <p:nvSpPr>
          <p:cNvPr id="5" name="TextBox 5">
            <a:extLst xmlns:a="http://schemas.openxmlformats.org/drawingml/2006/main">
              <a:ext uri="{FF2B5EF4-FFF2-40B4-BE49-F238E27FC236}">
                <a16:creationId xmlns:a16="http://schemas.microsoft.com/office/drawing/2014/main" id="{58564F19-D82F-583A-7AF3-983271D3C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296" y="919690"/>
            <a:ext cx="4980384" cy="662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800" b="1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11" name="summary-panel">
            <a:extLst xmlns:a="http://schemas.openxmlformats.org/drawingml/2006/main">
              <a:ext uri="{FF2B5EF4-FFF2-40B4-BE49-F238E27FC236}">
                <a16:creationId xmlns:a16="http://schemas.microsoft.com/office/drawing/2014/main" id="{BA168505-15CA-413C-B298-818B1752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571625"/>
            <a:ext cx="10620375" cy="2190750"/>
          </a:xfrm>
          <a:prstGeom xmlns:a="http://schemas.openxmlformats.org/drawingml/2006/main" prst="roundRect">
            <a:avLst>
              <a:gd name="adj" fmla="val 26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summary-fixed">
            <a:extLst xmlns:a="http://schemas.openxmlformats.org/drawingml/2006/main">
              <a:ext uri="{FF2B5EF4-FFF2-40B4-BE49-F238E27FC236}">
                <a16:creationId xmlns:a16="http://schemas.microsoft.com/office/drawing/2014/main" id="{0E0EC6A6-D4D0-4F50-94B0-CC196DC2B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762125"/>
            <a:ext cx="10048875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已完成 ResinDB Pro v3.0 的核心软件交付：数据仓库、科研分析、Worker计算、数据适配、导入导出、管理与报告。</a:t>
            </a:r>
          </a:p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本次本地验证 typecheck、test、build 均通过，可作为阶段验收依据。</a:t>
            </a:r>
          </a:p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代码结构模块化，UI/状态/服务/数据模型边界清晰，具备迁移到真实后端的工程基础。</a:t>
            </a:r>
          </a:p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已识别待补项：版本号显示不一致、覆盖率/E2E、vendor chunk 拆分、经费/IP/外协材料。</a:t>
            </a:r>
          </a:p>
        </p:txBody>
      </p:sp>
      <p:sp>
        <p:nvSpPr>
          <p:cNvPr id="13" name="suggest-panel">
            <a:extLst xmlns:a="http://schemas.openxmlformats.org/drawingml/2006/main">
              <a:ext uri="{FF2B5EF4-FFF2-40B4-BE49-F238E27FC236}">
                <a16:creationId xmlns:a16="http://schemas.microsoft.com/office/drawing/2014/main" id="{CFBC8E5F-A248-4987-ABE5-BA6C0B4A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43375"/>
            <a:ext cx="10620375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4" name="suggest-fixed">
            <a:extLst xmlns:a="http://schemas.openxmlformats.org/drawingml/2006/main">
              <a:ext uri="{FF2B5EF4-FFF2-40B4-BE49-F238E27FC236}">
                <a16:creationId xmlns:a16="http://schemas.microsoft.com/office/drawing/2014/main" id="{72B290F5-B03A-4ECF-B6CC-BFF0168AC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33875"/>
            <a:ext cx="10048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建议通过软件阶段验收，并将财务、知识产权、外协材料作为卷宗补充项。</a:t>
            </a:r>
          </a:p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统一 package/UI 显示版本，补充 release tag 与变更日志。</a:t>
            </a:r>
          </a:p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增加覆盖率门禁、E2E 与性能基准，持续拆分大体积 vendor chunk。</a:t>
            </a:r>
          </a:p>
          <a:p xmlns:a="http://schemas.openxmlformats.org/drawingml/2006/main">
            <a:pPr>
              <a:buNone/>
              <a:def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11827"/>
                </a:solidFill>
                <a:latin typeface="Microsoft YaHei"/>
                <a:ea typeface="Microsoft YaHei"/>
                <a:cs typeface="Microsoft YaHei"/>
              </a:rPr>
              <a:t>• 对接真实数据库或 Firebase 环境，形成生产级权限、审计、备份与监控闭环。</a:t>
            </a:r>
          </a:p>
        </p:txBody>
      </p:sp>
      <p:sp>
        <p:nvSpPr>
          <p:cNvPr id="15" name="suggest-label-fixed">
            <a:extLst xmlns:a="http://schemas.openxmlformats.org/drawingml/2006/main">
              <a:ext uri="{FF2B5EF4-FFF2-40B4-BE49-F238E27FC236}">
                <a16:creationId xmlns:a16="http://schemas.microsoft.com/office/drawing/2014/main" id="{CE2A586F-91F6-49B2-8B9B-BD12A2B05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7814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D00000"/>
                </a:solidFill>
                <a:latin typeface="Microsoft YaHei"/>
                <a:ea typeface="Microsoft YaHei"/>
                <a:cs typeface="Microsoft YaHei"/>
              </a:rPr>
              <a:t>建议</a:t>
            </a:r>
          </a:p>
        </p:txBody>
      </p:sp>
    </p:spTree>
    <p:extLst>
      <p:ext uri="{BB962C8B-B14F-4D97-AF65-F5344CB8AC3E}">
        <p14:creationId xmlns:p14="http://schemas.microsoft.com/office/powerpoint/2010/main" val="3216531660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9F9EB55-F5F7-E47E-2D59-21D2FEF9FAF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7D9BB5D0-35E4-459D-AEF3-FE4D7C45CC19}" type="slidenum">
              <a:t>25</a:t>
            </a:fld>
          </a:p>
        </p:txBody>
      </p:sp>
      <p:sp>
        <p:nvSpPr>
          <p:cNvPr id="4" name="文本框 2">
            <a:extLst xmlns:a="http://schemas.openxmlformats.org/drawingml/2006/main">
              <a:ext uri="{FF2B5EF4-FFF2-40B4-BE49-F238E27FC236}">
                <a16:creationId xmlns:a16="http://schemas.microsoft.com/office/drawing/2014/main" id="{BA6B6E69-4E57-9631-71C1-414AD15DC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496" y="2420888"/>
            <a:ext cx="8823399" cy="23069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800" b="1">
                <a:solidFill>
                  <a:srgbClr val="000066"/>
                </a:solidFill>
                <a:latin typeface="微软雅黑"/>
                <a:ea typeface="微软雅黑"/>
                <a:cs typeface="微软雅黑"/>
              </a:rPr>
              <a:t>敬请专家批评指正</a:t>
            </a:r>
          </a:p>
          <a:p xmlns:a="http://schemas.openxmlformats.org/drawingml/2006/main">
            <a:pPr algn="ctr">
              <a:buNone/>
            </a:pPr>
            <a:r>
              <a:t/>
            </a:r>
          </a:p>
          <a:p xmlns:a="http://schemas.openxmlformats.org/drawingml/2006/main">
            <a:pPr algn="ctr">
              <a:buNone/>
            </a:pPr>
            <a:r>
              <a:rPr sz="4800" b="1">
                <a:solidFill>
                  <a:srgbClr val="000066"/>
                </a:solidFill>
                <a:latin typeface="微软雅黑"/>
                <a:ea typeface="微软雅黑"/>
                <a:cs typeface="微软雅黑"/>
              </a:rPr>
              <a:t>谢  谢</a:t>
            </a:r>
          </a:p>
        </p:txBody>
      </p:sp>
      <p:sp>
        <p:nvSpPr>
          <p:cNvPr id="5" name="closing-source">
            <a:extLst xmlns:a="http://schemas.openxmlformats.org/drawingml/2006/main">
              <a:ext uri="{FF2B5EF4-FFF2-40B4-BE49-F238E27FC236}">
                <a16:creationId xmlns:a16="http://schemas.microsoft.com/office/drawing/2014/main" id="{C66F5E47-99FA-43FA-AC2B-FD4BEFF7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810250"/>
            <a:ext cx="533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资料来源：本地 ResinDB Pro 项目文件、GitHub 公开仓库、2026-06-17 本地验收验证</a:t>
            </a:r>
          </a:p>
        </p:txBody>
      </p:sp>
    </p:spTree>
    <p:extLst>
      <p:ext uri="{BB962C8B-B14F-4D97-AF65-F5344CB8AC3E}">
        <p14:creationId xmlns:p14="http://schemas.microsoft.com/office/powerpoint/2010/main" val="1234241076"/>
      </p:ext>
    </p:extLst>
  </p:cSld>
</p:sld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2026-06-17T04:16:30.3690000Z</dcterms:created>
  <dcterms:modified xsi:type="dcterms:W3CDTF">2026-06-17T04:16:30.3690000Z</dcterms:modified>
</coreProperties>
</file>